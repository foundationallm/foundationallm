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derstanding the Time Value of Money: Principles and Applications" id="{DB0937F6-A963-494C-AEE7-61E6B3755D0F}">
          <p14:sldIdLst>
            <p14:sldId id="2561"/>
            <p14:sldId id="2562"/>
          </p14:sldIdLst>
        </p14:section>
        <p14:section name="Fundamentals of Time Value of Money" id="{3A19E5AC-2943-4C8A-9112-DC685C26F39F}">
          <p14:sldIdLst>
            <p14:sldId id="2563"/>
            <p14:sldId id="2564"/>
            <p14:sldId id="2565"/>
            <p14:sldId id="2566"/>
          </p14:sldIdLst>
        </p14:section>
        <p14:section name="Mathematical Principles and Formulas" id="{6A154E6E-3D54-44ED-8245-AE7ABD05A5D5}">
          <p14:sldIdLst>
            <p14:sldId id="2567"/>
            <p14:sldId id="2568"/>
            <p14:sldId id="2569"/>
            <p14:sldId id="2570"/>
          </p14:sldIdLst>
        </p14:section>
        <p14:section name="Impact of Inflation and Interest Rates" id="{9E955D7A-594C-4AF9-87C1-DC491E20CE18}">
          <p14:sldIdLst>
            <p14:sldId id="2571"/>
            <p14:sldId id="2572"/>
            <p14:sldId id="2573"/>
            <p14:sldId id="2574"/>
          </p14:sldIdLst>
        </p14:section>
        <p14:section name="Conclusion" id="{DC08B810-A099-47D1-90D3-6DC8EC2650C1}">
          <p14:sldIdLst>
            <p14:sldId id="257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8017" autoAdjust="0"/>
    <p:restoredTop sz="94660"/>
  </p:normalViewPr>
  <p:slideViewPr>
    <p:cSldViewPr snapToGrid="0">
      <p:cViewPr varScale="1">
        <p:scale>
          <a:sx n="92" d="100"/>
          <a:sy n="92" d="100"/>
        </p:scale>
        <p:origin x="244" y="2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B1A48C-E62E-44A0-B2D6-6E7D36F5C4AA}"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F91B8F67-3E2D-49C8-9A48-379B64745317}">
      <dgm:prSet/>
      <dgm:spPr/>
      <dgm:t>
        <a:bodyPr/>
        <a:lstStyle/>
        <a:p>
          <a:pPr>
            <a:lnSpc>
              <a:spcPct val="100000"/>
            </a:lnSpc>
            <a:defRPr b="1"/>
          </a:pPr>
          <a:r>
            <a:rPr lang="en-US"/>
            <a:t>Foundational Financial Concept</a:t>
          </a:r>
        </a:p>
      </dgm:t>
    </dgm:pt>
    <dgm:pt modelId="{473D22D0-35E1-4972-9AEA-FBC7CD983E73}" type="parTrans" cxnId="{A0C9043E-A0CA-4AA7-A21F-45AFD6C90701}">
      <dgm:prSet/>
      <dgm:spPr/>
      <dgm:t>
        <a:bodyPr/>
        <a:lstStyle/>
        <a:p>
          <a:endParaRPr lang="en-US"/>
        </a:p>
      </dgm:t>
    </dgm:pt>
    <dgm:pt modelId="{1B179E49-55FE-49DF-8F8D-256BFEA5815D}" type="sibTrans" cxnId="{A0C9043E-A0CA-4AA7-A21F-45AFD6C90701}">
      <dgm:prSet/>
      <dgm:spPr/>
      <dgm:t>
        <a:bodyPr/>
        <a:lstStyle/>
        <a:p>
          <a:pPr>
            <a:lnSpc>
              <a:spcPct val="100000"/>
            </a:lnSpc>
            <a:defRPr b="1"/>
          </a:pPr>
          <a:endParaRPr lang="en-US"/>
        </a:p>
      </dgm:t>
    </dgm:pt>
    <dgm:pt modelId="{81AB560B-0A4A-45B3-9729-6BB86599A7B5}">
      <dgm:prSet/>
      <dgm:spPr/>
      <dgm:t>
        <a:bodyPr/>
        <a:lstStyle/>
        <a:p>
          <a:pPr>
            <a:lnSpc>
              <a:spcPct val="100000"/>
            </a:lnSpc>
          </a:pPr>
          <a:r>
            <a:rPr lang="en-US"/>
            <a:t>The Time Value of Money is essential for understanding basic financial principles that guide investment and savings decisions.</a:t>
          </a:r>
        </a:p>
      </dgm:t>
    </dgm:pt>
    <dgm:pt modelId="{CC411199-C4BD-4C93-B1B2-A8FBE90B6A82}" type="parTrans" cxnId="{BEC921F7-656E-474F-8487-7A357902FDE8}">
      <dgm:prSet/>
      <dgm:spPr/>
      <dgm:t>
        <a:bodyPr/>
        <a:lstStyle/>
        <a:p>
          <a:endParaRPr lang="en-US"/>
        </a:p>
      </dgm:t>
    </dgm:pt>
    <dgm:pt modelId="{AB8ABA84-F22E-483C-B343-6A71E6B9EEF7}" type="sibTrans" cxnId="{BEC921F7-656E-474F-8487-7A357902FDE8}">
      <dgm:prSet/>
      <dgm:spPr/>
      <dgm:t>
        <a:bodyPr/>
        <a:lstStyle/>
        <a:p>
          <a:endParaRPr lang="en-US"/>
        </a:p>
      </dgm:t>
    </dgm:pt>
    <dgm:pt modelId="{D9E71A76-535D-462F-8920-3DD76B4426F2}">
      <dgm:prSet/>
      <dgm:spPr/>
      <dgm:t>
        <a:bodyPr/>
        <a:lstStyle/>
        <a:p>
          <a:pPr>
            <a:lnSpc>
              <a:spcPct val="100000"/>
            </a:lnSpc>
            <a:defRPr b="1"/>
          </a:pPr>
          <a:r>
            <a:rPr lang="en-US"/>
            <a:t>Impact on Investment Decisions</a:t>
          </a:r>
        </a:p>
      </dgm:t>
    </dgm:pt>
    <dgm:pt modelId="{43B2320B-D571-430F-A60E-B52D71073721}" type="parTrans" cxnId="{716E3E08-8778-4CD8-8017-AA53DF531E73}">
      <dgm:prSet/>
      <dgm:spPr/>
      <dgm:t>
        <a:bodyPr/>
        <a:lstStyle/>
        <a:p>
          <a:endParaRPr lang="en-US"/>
        </a:p>
      </dgm:t>
    </dgm:pt>
    <dgm:pt modelId="{BA76DBBB-A783-4801-8991-B26D659EA61A}" type="sibTrans" cxnId="{716E3E08-8778-4CD8-8017-AA53DF531E73}">
      <dgm:prSet/>
      <dgm:spPr/>
      <dgm:t>
        <a:bodyPr/>
        <a:lstStyle/>
        <a:p>
          <a:pPr>
            <a:lnSpc>
              <a:spcPct val="100000"/>
            </a:lnSpc>
            <a:defRPr b="1"/>
          </a:pPr>
          <a:endParaRPr lang="en-US"/>
        </a:p>
      </dgm:t>
    </dgm:pt>
    <dgm:pt modelId="{13CC3BB9-3ADD-4C8F-83A5-70A971063B93}">
      <dgm:prSet/>
      <dgm:spPr/>
      <dgm:t>
        <a:bodyPr/>
        <a:lstStyle/>
        <a:p>
          <a:pPr>
            <a:lnSpc>
              <a:spcPct val="100000"/>
            </a:lnSpc>
          </a:pPr>
          <a:r>
            <a:rPr lang="en-US"/>
            <a:t>Understanding the Time Value of Money helps individuals make informed investment choices that can maximize their returns over time.</a:t>
          </a:r>
        </a:p>
      </dgm:t>
    </dgm:pt>
    <dgm:pt modelId="{92884AF5-2F48-4F86-AC49-3CEE31A954EF}" type="parTrans" cxnId="{49CE279A-9E70-4C89-A1F9-D029C3885578}">
      <dgm:prSet/>
      <dgm:spPr/>
      <dgm:t>
        <a:bodyPr/>
        <a:lstStyle/>
        <a:p>
          <a:endParaRPr lang="en-US"/>
        </a:p>
      </dgm:t>
    </dgm:pt>
    <dgm:pt modelId="{CA38244A-2275-413E-8B8D-5A03E82BF39B}" type="sibTrans" cxnId="{49CE279A-9E70-4C89-A1F9-D029C3885578}">
      <dgm:prSet/>
      <dgm:spPr/>
      <dgm:t>
        <a:bodyPr/>
        <a:lstStyle/>
        <a:p>
          <a:endParaRPr lang="en-US"/>
        </a:p>
      </dgm:t>
    </dgm:pt>
    <dgm:pt modelId="{50279BE0-04DC-4F3F-8183-984E454DDC89}">
      <dgm:prSet/>
      <dgm:spPr/>
      <dgm:t>
        <a:bodyPr/>
        <a:lstStyle/>
        <a:p>
          <a:pPr>
            <a:lnSpc>
              <a:spcPct val="100000"/>
            </a:lnSpc>
            <a:defRPr b="1"/>
          </a:pPr>
          <a:r>
            <a:rPr lang="en-US"/>
            <a:t>Financial Planning Strategies</a:t>
          </a:r>
        </a:p>
      </dgm:t>
    </dgm:pt>
    <dgm:pt modelId="{13CF542A-EDFC-43EC-BB32-F7DE95283914}" type="parTrans" cxnId="{1AE399FD-486D-46CE-8D09-6731CF6EF134}">
      <dgm:prSet/>
      <dgm:spPr/>
      <dgm:t>
        <a:bodyPr/>
        <a:lstStyle/>
        <a:p>
          <a:endParaRPr lang="en-US"/>
        </a:p>
      </dgm:t>
    </dgm:pt>
    <dgm:pt modelId="{73FAF966-B3E6-4C1A-B62B-D5BF0AB0DDCB}" type="sibTrans" cxnId="{1AE399FD-486D-46CE-8D09-6731CF6EF134}">
      <dgm:prSet/>
      <dgm:spPr/>
      <dgm:t>
        <a:bodyPr/>
        <a:lstStyle/>
        <a:p>
          <a:endParaRPr lang="en-US"/>
        </a:p>
      </dgm:t>
    </dgm:pt>
    <dgm:pt modelId="{B6D89FB5-90CC-4DFE-8A0F-386822238320}">
      <dgm:prSet/>
      <dgm:spPr/>
      <dgm:t>
        <a:bodyPr/>
        <a:lstStyle/>
        <a:p>
          <a:pPr>
            <a:lnSpc>
              <a:spcPct val="100000"/>
            </a:lnSpc>
          </a:pPr>
          <a:r>
            <a:rPr lang="en-US"/>
            <a:t>Incorporating the Time Value of Money into financial planning allows for better savings strategies and future financial security.</a:t>
          </a:r>
        </a:p>
      </dgm:t>
    </dgm:pt>
    <dgm:pt modelId="{68A748C3-E8CB-4233-91CA-662EDF899EC2}" type="parTrans" cxnId="{B1F8369E-03C0-42EC-AC23-35199F713FF0}">
      <dgm:prSet/>
      <dgm:spPr/>
      <dgm:t>
        <a:bodyPr/>
        <a:lstStyle/>
        <a:p>
          <a:endParaRPr lang="en-US"/>
        </a:p>
      </dgm:t>
    </dgm:pt>
    <dgm:pt modelId="{3FD7BA81-C54C-40FC-A5BD-1A92592CC40D}" type="sibTrans" cxnId="{B1F8369E-03C0-42EC-AC23-35199F713FF0}">
      <dgm:prSet/>
      <dgm:spPr/>
      <dgm:t>
        <a:bodyPr/>
        <a:lstStyle/>
        <a:p>
          <a:endParaRPr lang="en-US"/>
        </a:p>
      </dgm:t>
    </dgm:pt>
    <dgm:pt modelId="{3F74F33E-D9C3-4084-8C41-106E847786FD}" type="pres">
      <dgm:prSet presAssocID="{4BB1A48C-E62E-44A0-B2D6-6E7D36F5C4AA}" presName="Name0" presStyleCnt="0">
        <dgm:presLayoutVars>
          <dgm:dir/>
          <dgm:resizeHandles val="exact"/>
        </dgm:presLayoutVars>
      </dgm:prSet>
      <dgm:spPr/>
    </dgm:pt>
    <dgm:pt modelId="{48A07F8F-6B91-40AF-8544-CD2D1E44EACD}" type="pres">
      <dgm:prSet presAssocID="{F91B8F67-3E2D-49C8-9A48-379B64745317}" presName="compNode" presStyleCnt="0"/>
      <dgm:spPr/>
    </dgm:pt>
    <dgm:pt modelId="{772BD6FA-D63D-48CB-9BD2-EB8D9E08DDBE}" type="pres">
      <dgm:prSet presAssocID="{F91B8F67-3E2D-49C8-9A48-379B64745317}" presName="pictRect" presStyleLbl="revTx" presStyleIdx="0" presStyleCnt="6">
        <dgm:presLayoutVars>
          <dgm:chMax val="0"/>
          <dgm:bulletEnabled/>
        </dgm:presLayoutVars>
      </dgm:prSet>
      <dgm:spPr/>
    </dgm:pt>
    <dgm:pt modelId="{395431D9-CB71-41CA-AE52-F8F7938A36CF}" type="pres">
      <dgm:prSet presAssocID="{F91B8F67-3E2D-49C8-9A48-379B64745317}" presName="textRect" presStyleLbl="revTx" presStyleIdx="1" presStyleCnt="6">
        <dgm:presLayoutVars>
          <dgm:bulletEnabled/>
        </dgm:presLayoutVars>
      </dgm:prSet>
      <dgm:spPr/>
    </dgm:pt>
    <dgm:pt modelId="{75EFFAC3-7569-4C97-99B8-1574884F4205}" type="pres">
      <dgm:prSet presAssocID="{1B179E49-55FE-49DF-8F8D-256BFEA5815D}" presName="sibTrans" presStyleLbl="sibTrans2D1" presStyleIdx="0" presStyleCnt="0"/>
      <dgm:spPr/>
    </dgm:pt>
    <dgm:pt modelId="{1676C476-EBAC-47A5-89E4-47ACA60F22AC}" type="pres">
      <dgm:prSet presAssocID="{D9E71A76-535D-462F-8920-3DD76B4426F2}" presName="compNode" presStyleCnt="0"/>
      <dgm:spPr/>
    </dgm:pt>
    <dgm:pt modelId="{D5B1C542-A56F-48AB-B548-E4F87BF9CDE1}" type="pres">
      <dgm:prSet presAssocID="{D9E71A76-535D-462F-8920-3DD76B4426F2}" presName="pictRect" presStyleLbl="revTx" presStyleIdx="2" presStyleCnt="6">
        <dgm:presLayoutVars>
          <dgm:chMax val="0"/>
          <dgm:bulletEnabled/>
        </dgm:presLayoutVars>
      </dgm:prSet>
      <dgm:spPr/>
    </dgm:pt>
    <dgm:pt modelId="{33701694-B318-492D-AB01-4541349F5737}" type="pres">
      <dgm:prSet presAssocID="{D9E71A76-535D-462F-8920-3DD76B4426F2}" presName="textRect" presStyleLbl="revTx" presStyleIdx="3" presStyleCnt="6">
        <dgm:presLayoutVars>
          <dgm:bulletEnabled/>
        </dgm:presLayoutVars>
      </dgm:prSet>
      <dgm:spPr/>
    </dgm:pt>
    <dgm:pt modelId="{3015EBAF-9B75-44EC-94A3-A1A1D2B2F080}" type="pres">
      <dgm:prSet presAssocID="{BA76DBBB-A783-4801-8991-B26D659EA61A}" presName="sibTrans" presStyleLbl="sibTrans2D1" presStyleIdx="0" presStyleCnt="0"/>
      <dgm:spPr/>
    </dgm:pt>
    <dgm:pt modelId="{8BD4C007-43DD-4280-9F88-03D46ACF2A03}" type="pres">
      <dgm:prSet presAssocID="{50279BE0-04DC-4F3F-8183-984E454DDC89}" presName="compNode" presStyleCnt="0"/>
      <dgm:spPr/>
    </dgm:pt>
    <dgm:pt modelId="{7DB9EA40-7585-48E8-B24D-BAC7C6BB4516}" type="pres">
      <dgm:prSet presAssocID="{50279BE0-04DC-4F3F-8183-984E454DDC89}" presName="pictRect" presStyleLbl="revTx" presStyleIdx="4" presStyleCnt="6">
        <dgm:presLayoutVars>
          <dgm:chMax val="0"/>
          <dgm:bulletEnabled/>
        </dgm:presLayoutVars>
      </dgm:prSet>
      <dgm:spPr/>
    </dgm:pt>
    <dgm:pt modelId="{0B7B859D-C3A5-4736-8F7C-1E44D0C594AA}" type="pres">
      <dgm:prSet presAssocID="{50279BE0-04DC-4F3F-8183-984E454DDC89}" presName="textRect" presStyleLbl="revTx" presStyleIdx="5" presStyleCnt="6">
        <dgm:presLayoutVars>
          <dgm:bulletEnabled/>
        </dgm:presLayoutVars>
      </dgm:prSet>
      <dgm:spPr/>
    </dgm:pt>
  </dgm:ptLst>
  <dgm:cxnLst>
    <dgm:cxn modelId="{716E3E08-8778-4CD8-8017-AA53DF531E73}" srcId="{4BB1A48C-E62E-44A0-B2D6-6E7D36F5C4AA}" destId="{D9E71A76-535D-462F-8920-3DD76B4426F2}" srcOrd="1" destOrd="0" parTransId="{43B2320B-D571-430F-A60E-B52D71073721}" sibTransId="{BA76DBBB-A783-4801-8991-B26D659EA61A}"/>
    <dgm:cxn modelId="{3D84C60D-2443-492E-8D97-60BD4CA0A34E}" type="presOf" srcId="{BA76DBBB-A783-4801-8991-B26D659EA61A}" destId="{3015EBAF-9B75-44EC-94A3-A1A1D2B2F080}" srcOrd="0" destOrd="0" presId="urn:microsoft.com/office/officeart/2024/3/layout/hArchList1"/>
    <dgm:cxn modelId="{48E8FE12-0BE2-44B0-B16F-E0F9C2DC2ECF}" type="presOf" srcId="{81AB560B-0A4A-45B3-9729-6BB86599A7B5}" destId="{395431D9-CB71-41CA-AE52-F8F7938A36CF}" srcOrd="0" destOrd="0" presId="urn:microsoft.com/office/officeart/2024/3/layout/hArchList1"/>
    <dgm:cxn modelId="{D92B4117-0C49-4535-B793-74FAE25DC549}" type="presOf" srcId="{4BB1A48C-E62E-44A0-B2D6-6E7D36F5C4AA}" destId="{3F74F33E-D9C3-4084-8C41-106E847786FD}" srcOrd="0" destOrd="0" presId="urn:microsoft.com/office/officeart/2024/3/layout/hArchList1"/>
    <dgm:cxn modelId="{A0C9043E-A0CA-4AA7-A21F-45AFD6C90701}" srcId="{4BB1A48C-E62E-44A0-B2D6-6E7D36F5C4AA}" destId="{F91B8F67-3E2D-49C8-9A48-379B64745317}" srcOrd="0" destOrd="0" parTransId="{473D22D0-35E1-4972-9AEA-FBC7CD983E73}" sibTransId="{1B179E49-55FE-49DF-8F8D-256BFEA5815D}"/>
    <dgm:cxn modelId="{E73F7B91-B934-421A-A2EC-B0BC32F42B84}" type="presOf" srcId="{F91B8F67-3E2D-49C8-9A48-379B64745317}" destId="{772BD6FA-D63D-48CB-9BD2-EB8D9E08DDBE}" srcOrd="0" destOrd="0" presId="urn:microsoft.com/office/officeart/2024/3/layout/hArchList1"/>
    <dgm:cxn modelId="{0B554998-0EDD-4992-9A03-096694A3A536}" type="presOf" srcId="{1B179E49-55FE-49DF-8F8D-256BFEA5815D}" destId="{75EFFAC3-7569-4C97-99B8-1574884F4205}" srcOrd="0" destOrd="0" presId="urn:microsoft.com/office/officeart/2024/3/layout/hArchList1"/>
    <dgm:cxn modelId="{49CE279A-9E70-4C89-A1F9-D029C3885578}" srcId="{D9E71A76-535D-462F-8920-3DD76B4426F2}" destId="{13CC3BB9-3ADD-4C8F-83A5-70A971063B93}" srcOrd="0" destOrd="0" parTransId="{92884AF5-2F48-4F86-AC49-3CEE31A954EF}" sibTransId="{CA38244A-2275-413E-8B8D-5A03E82BF39B}"/>
    <dgm:cxn modelId="{B1F8369E-03C0-42EC-AC23-35199F713FF0}" srcId="{50279BE0-04DC-4F3F-8183-984E454DDC89}" destId="{B6D89FB5-90CC-4DFE-8A0F-386822238320}" srcOrd="0" destOrd="0" parTransId="{68A748C3-E8CB-4233-91CA-662EDF899EC2}" sibTransId="{3FD7BA81-C54C-40FC-A5BD-1A92592CC40D}"/>
    <dgm:cxn modelId="{62DB6BA8-28B6-4A65-A349-65CC3E61E8C9}" type="presOf" srcId="{B6D89FB5-90CC-4DFE-8A0F-386822238320}" destId="{0B7B859D-C3A5-4736-8F7C-1E44D0C594AA}" srcOrd="0" destOrd="0" presId="urn:microsoft.com/office/officeart/2024/3/layout/hArchList1"/>
    <dgm:cxn modelId="{62CD49B6-51D3-4DA2-804D-E779147DCB92}" type="presOf" srcId="{D9E71A76-535D-462F-8920-3DD76B4426F2}" destId="{D5B1C542-A56F-48AB-B548-E4F87BF9CDE1}" srcOrd="0" destOrd="0" presId="urn:microsoft.com/office/officeart/2024/3/layout/hArchList1"/>
    <dgm:cxn modelId="{637F35EB-826D-4100-8A16-1949DDB57154}" type="presOf" srcId="{13CC3BB9-3ADD-4C8F-83A5-70A971063B93}" destId="{33701694-B318-492D-AB01-4541349F5737}" srcOrd="0" destOrd="0" presId="urn:microsoft.com/office/officeart/2024/3/layout/hArchList1"/>
    <dgm:cxn modelId="{0BEE13EC-C75C-47C4-A422-6D9222F0FF8B}" type="presOf" srcId="{50279BE0-04DC-4F3F-8183-984E454DDC89}" destId="{7DB9EA40-7585-48E8-B24D-BAC7C6BB4516}" srcOrd="0" destOrd="0" presId="urn:microsoft.com/office/officeart/2024/3/layout/hArchList1"/>
    <dgm:cxn modelId="{BEC921F7-656E-474F-8487-7A357902FDE8}" srcId="{F91B8F67-3E2D-49C8-9A48-379B64745317}" destId="{81AB560B-0A4A-45B3-9729-6BB86599A7B5}" srcOrd="0" destOrd="0" parTransId="{CC411199-C4BD-4C93-B1B2-A8FBE90B6A82}" sibTransId="{AB8ABA84-F22E-483C-B343-6A71E6B9EEF7}"/>
    <dgm:cxn modelId="{1AE399FD-486D-46CE-8D09-6731CF6EF134}" srcId="{4BB1A48C-E62E-44A0-B2D6-6E7D36F5C4AA}" destId="{50279BE0-04DC-4F3F-8183-984E454DDC89}" srcOrd="2" destOrd="0" parTransId="{13CF542A-EDFC-43EC-BB32-F7DE95283914}" sibTransId="{73FAF966-B3E6-4C1A-B62B-D5BF0AB0DDCB}"/>
    <dgm:cxn modelId="{69A905EE-8D1F-4A87-8CD7-D0ECDC8CFD32}" type="presParOf" srcId="{3F74F33E-D9C3-4084-8C41-106E847786FD}" destId="{48A07F8F-6B91-40AF-8544-CD2D1E44EACD}" srcOrd="0" destOrd="0" presId="urn:microsoft.com/office/officeart/2024/3/layout/hArchList1"/>
    <dgm:cxn modelId="{2D15EE0B-ED3B-4D61-A64E-391C908037C6}" type="presParOf" srcId="{48A07F8F-6B91-40AF-8544-CD2D1E44EACD}" destId="{772BD6FA-D63D-48CB-9BD2-EB8D9E08DDBE}" srcOrd="0" destOrd="0" presId="urn:microsoft.com/office/officeart/2024/3/layout/hArchList1"/>
    <dgm:cxn modelId="{35ABDAB1-DB1C-4142-9CAC-3B99D1CE09F1}" type="presParOf" srcId="{48A07F8F-6B91-40AF-8544-CD2D1E44EACD}" destId="{395431D9-CB71-41CA-AE52-F8F7938A36CF}" srcOrd="1" destOrd="0" presId="urn:microsoft.com/office/officeart/2024/3/layout/hArchList1"/>
    <dgm:cxn modelId="{33025663-D45C-4341-A74E-B3028801FA07}" type="presParOf" srcId="{3F74F33E-D9C3-4084-8C41-106E847786FD}" destId="{75EFFAC3-7569-4C97-99B8-1574884F4205}" srcOrd="1" destOrd="0" presId="urn:microsoft.com/office/officeart/2024/3/layout/hArchList1"/>
    <dgm:cxn modelId="{56797116-6585-4AB3-99AB-161BA602EE41}" type="presParOf" srcId="{3F74F33E-D9C3-4084-8C41-106E847786FD}" destId="{1676C476-EBAC-47A5-89E4-47ACA60F22AC}" srcOrd="2" destOrd="0" presId="urn:microsoft.com/office/officeart/2024/3/layout/hArchList1"/>
    <dgm:cxn modelId="{6E489A4A-A8FF-426E-BD9C-C42016E2EE9C}" type="presParOf" srcId="{1676C476-EBAC-47A5-89E4-47ACA60F22AC}" destId="{D5B1C542-A56F-48AB-B548-E4F87BF9CDE1}" srcOrd="0" destOrd="0" presId="urn:microsoft.com/office/officeart/2024/3/layout/hArchList1"/>
    <dgm:cxn modelId="{C911CBE8-8B1F-4676-9F86-CE01F30F23BD}" type="presParOf" srcId="{1676C476-EBAC-47A5-89E4-47ACA60F22AC}" destId="{33701694-B318-492D-AB01-4541349F5737}" srcOrd="1" destOrd="0" presId="urn:microsoft.com/office/officeart/2024/3/layout/hArchList1"/>
    <dgm:cxn modelId="{C6EE28FE-0603-45D5-A567-4F744E0F058A}" type="presParOf" srcId="{3F74F33E-D9C3-4084-8C41-106E847786FD}" destId="{3015EBAF-9B75-44EC-94A3-A1A1D2B2F080}" srcOrd="3" destOrd="0" presId="urn:microsoft.com/office/officeart/2024/3/layout/hArchList1"/>
    <dgm:cxn modelId="{BA582E18-B997-4414-B825-A292D1C6A7DA}" type="presParOf" srcId="{3F74F33E-D9C3-4084-8C41-106E847786FD}" destId="{8BD4C007-43DD-4280-9F88-03D46ACF2A03}" srcOrd="4" destOrd="0" presId="urn:microsoft.com/office/officeart/2024/3/layout/hArchList1"/>
    <dgm:cxn modelId="{E27036D5-A4CC-4284-AE86-EA5404D8E134}" type="presParOf" srcId="{8BD4C007-43DD-4280-9F88-03D46ACF2A03}" destId="{7DB9EA40-7585-48E8-B24D-BAC7C6BB4516}" srcOrd="0" destOrd="0" presId="urn:microsoft.com/office/officeart/2024/3/layout/hArchList1"/>
    <dgm:cxn modelId="{CD7F2DE8-A259-4DE9-9FCD-C89833CF2B4D}" type="presParOf" srcId="{8BD4C007-43DD-4280-9F88-03D46ACF2A03}" destId="{0B7B859D-C3A5-4736-8F7C-1E44D0C594AA}"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2BD6FA-D63D-48CB-9BD2-EB8D9E08DDBE}">
      <dsp:nvSpPr>
        <dsp:cNvPr id="0" name=""/>
        <dsp:cNvSpPr/>
      </dsp:nvSpPr>
      <dsp:spPr>
        <a:xfrm>
          <a:off x="0" y="0"/>
          <a:ext cx="3377565" cy="320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Foundational Financial Concept</a:t>
          </a:r>
        </a:p>
      </dsp:txBody>
      <dsp:txXfrm>
        <a:off x="0" y="0"/>
        <a:ext cx="3377565" cy="320182"/>
      </dsp:txXfrm>
    </dsp:sp>
    <dsp:sp modelId="{395431D9-CB71-41CA-AE52-F8F7938A36CF}">
      <dsp:nvSpPr>
        <dsp:cNvPr id="0" name=""/>
        <dsp:cNvSpPr/>
      </dsp:nvSpPr>
      <dsp:spPr>
        <a:xfrm>
          <a:off x="0" y="320182"/>
          <a:ext cx="3377565" cy="213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Time Value of Money is essential for understanding basic financial principles that guide investment and savings decisions.</a:t>
          </a:r>
        </a:p>
      </dsp:txBody>
      <dsp:txXfrm>
        <a:off x="0" y="320182"/>
        <a:ext cx="3377565" cy="2135895"/>
      </dsp:txXfrm>
    </dsp:sp>
    <dsp:sp modelId="{D5B1C542-A56F-48AB-B548-E4F87BF9CDE1}">
      <dsp:nvSpPr>
        <dsp:cNvPr id="0" name=""/>
        <dsp:cNvSpPr/>
      </dsp:nvSpPr>
      <dsp:spPr>
        <a:xfrm>
          <a:off x="3715321" y="0"/>
          <a:ext cx="3377565" cy="320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Impact on Investment Decisions</a:t>
          </a:r>
        </a:p>
      </dsp:txBody>
      <dsp:txXfrm>
        <a:off x="3715321" y="0"/>
        <a:ext cx="3377565" cy="320182"/>
      </dsp:txXfrm>
    </dsp:sp>
    <dsp:sp modelId="{33701694-B318-492D-AB01-4541349F5737}">
      <dsp:nvSpPr>
        <dsp:cNvPr id="0" name=""/>
        <dsp:cNvSpPr/>
      </dsp:nvSpPr>
      <dsp:spPr>
        <a:xfrm>
          <a:off x="3715321" y="320182"/>
          <a:ext cx="3377565" cy="213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Understanding the Time Value of Money helps individuals make informed investment choices that can maximize their returns over time.</a:t>
          </a:r>
        </a:p>
      </dsp:txBody>
      <dsp:txXfrm>
        <a:off x="3715321" y="320182"/>
        <a:ext cx="3377565" cy="2135895"/>
      </dsp:txXfrm>
    </dsp:sp>
    <dsp:sp modelId="{7DB9EA40-7585-48E8-B24D-BAC7C6BB4516}">
      <dsp:nvSpPr>
        <dsp:cNvPr id="0" name=""/>
        <dsp:cNvSpPr/>
      </dsp:nvSpPr>
      <dsp:spPr>
        <a:xfrm>
          <a:off x="7430643" y="0"/>
          <a:ext cx="3377565" cy="320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Financial Planning Strategies</a:t>
          </a:r>
        </a:p>
      </dsp:txBody>
      <dsp:txXfrm>
        <a:off x="7430643" y="0"/>
        <a:ext cx="3377565" cy="320182"/>
      </dsp:txXfrm>
    </dsp:sp>
    <dsp:sp modelId="{0B7B859D-C3A5-4736-8F7C-1E44D0C594AA}">
      <dsp:nvSpPr>
        <dsp:cNvPr id="0" name=""/>
        <dsp:cNvSpPr/>
      </dsp:nvSpPr>
      <dsp:spPr>
        <a:xfrm>
          <a:off x="7430643" y="320182"/>
          <a:ext cx="3377565" cy="21358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Incorporating the Time Value of Money into financial planning allows for better savings strategies and future financial security.</a:t>
          </a:r>
        </a:p>
      </dsp:txBody>
      <dsp:txXfrm>
        <a:off x="7430643" y="320182"/>
        <a:ext cx="3377565" cy="2135895"/>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9F5E70-BA5B-47D3-AB9B-9A05FCEBD51E}" type="datetimeFigureOut">
              <a:rPr lang="en-US" smtClean="0"/>
              <a:t>6/5/2025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BA02F0-3219-493D-866A-95C568738800}" type="slidenum">
              <a:rPr lang="en-US" smtClean="0"/>
              <a:t>‹#›</a:t>
            </a:fld>
            <a:endParaRPr lang="en-US"/>
          </a:p>
        </p:txBody>
      </p:sp>
    </p:spTree>
    <p:extLst>
      <p:ext uri="{BB962C8B-B14F-4D97-AF65-F5344CB8AC3E}">
        <p14:creationId xmlns:p14="http://schemas.microsoft.com/office/powerpoint/2010/main" val="1683583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The Time Value of Money (TVM) is a fundamental financial principle that asserts money available today is worth more than the same amount in the future due to its earning potential. In this presentation, we will explore the core concepts, mathematical formulas, and the impact of inflation and interest rates on money.
</a:t>
            </a:r>
          </a:p>
        </p:txBody>
      </p:sp>
      <p:sp>
        <p:nvSpPr>
          <p:cNvPr id="4" name="Slide Number Placeholder 3"/>
          <p:cNvSpPr>
            <a:spLocks noGrp="1"/>
          </p:cNvSpPr>
          <p:nvPr>
            <p:ph type="sldNum" sz="quarter" idx="5"/>
          </p:nvPr>
        </p:nvSpPr>
        <p:spPr/>
        <p:txBody>
          <a:bodyPr/>
          <a:lstStyle/>
          <a:p>
            <a:fld id="{5382BD24-81AD-4E51-BAE1-BE7180816926}" type="slidenum">
              <a:rPr lang="en-US" smtClean="0"/>
              <a:t>1</a:t>
            </a:fld>
            <a:endParaRPr lang="en-US"/>
          </a:p>
        </p:txBody>
      </p:sp>
    </p:spTree>
    <p:extLst>
      <p:ext uri="{BB962C8B-B14F-4D97-AF65-F5344CB8AC3E}">
        <p14:creationId xmlns:p14="http://schemas.microsoft.com/office/powerpoint/2010/main" val="3684236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will cover three key areas: First, we will discuss the fundamentals of the Time Value of Money, including its definition, importance, and basic concepts. Next, we will delve into the mathematical principles and formulas associated with TVM. Finally, we will examine the effects of inflation and interest rates on the value of money.</a:t>
            </a:r>
          </a:p>
        </p:txBody>
      </p:sp>
      <p:sp>
        <p:nvSpPr>
          <p:cNvPr id="4" name="Slide Number Placeholder 3"/>
          <p:cNvSpPr>
            <a:spLocks noGrp="1"/>
          </p:cNvSpPr>
          <p:nvPr>
            <p:ph type="sldNum" sz="quarter" idx="5"/>
          </p:nvPr>
        </p:nvSpPr>
        <p:spPr/>
        <p:txBody>
          <a:bodyPr/>
          <a:lstStyle/>
          <a:p>
            <a:fld id="{5382BD24-81AD-4E51-BAE1-BE7180816926}" type="slidenum">
              <a:rPr lang="en-US" smtClean="0"/>
              <a:t>2</a:t>
            </a:fld>
            <a:endParaRPr lang="en-US"/>
          </a:p>
        </p:txBody>
      </p:sp>
    </p:spTree>
    <p:extLst>
      <p:ext uri="{BB962C8B-B14F-4D97-AF65-F5344CB8AC3E}">
        <p14:creationId xmlns:p14="http://schemas.microsoft.com/office/powerpoint/2010/main" val="3675222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fundamentals of TVM is essential for making informed financial decisions. It involves recognizing that money's value changes over time and that this can impact investments, loans, and savings.</a:t>
            </a:r>
          </a:p>
        </p:txBody>
      </p:sp>
      <p:sp>
        <p:nvSpPr>
          <p:cNvPr id="4" name="Slide Number Placeholder 3"/>
          <p:cNvSpPr>
            <a:spLocks noGrp="1"/>
          </p:cNvSpPr>
          <p:nvPr>
            <p:ph type="sldNum" sz="quarter" idx="5"/>
          </p:nvPr>
        </p:nvSpPr>
        <p:spPr/>
        <p:txBody>
          <a:bodyPr/>
          <a:lstStyle/>
          <a:p>
            <a:fld id="{5382BD24-81AD-4E51-BAE1-BE7180816926}" type="slidenum">
              <a:rPr lang="en-US" smtClean="0"/>
              <a:t>3</a:t>
            </a:fld>
            <a:endParaRPr lang="en-US"/>
          </a:p>
        </p:txBody>
      </p:sp>
    </p:spTree>
    <p:extLst>
      <p:ext uri="{BB962C8B-B14F-4D97-AF65-F5344CB8AC3E}">
        <p14:creationId xmlns:p14="http://schemas.microsoft.com/office/powerpoint/2010/main" val="2740931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Time Value of Money is the concept that a certain amount of money today is more valuable than the same amount in the future due to its potential earning capacity. This principle is crucial for effective financial planning and investment strategies.</a:t>
            </a:r>
          </a:p>
        </p:txBody>
      </p:sp>
      <p:sp>
        <p:nvSpPr>
          <p:cNvPr id="4" name="Slide Number Placeholder 3"/>
          <p:cNvSpPr>
            <a:spLocks noGrp="1"/>
          </p:cNvSpPr>
          <p:nvPr>
            <p:ph type="sldNum" sz="quarter" idx="5"/>
          </p:nvPr>
        </p:nvSpPr>
        <p:spPr/>
        <p:txBody>
          <a:bodyPr/>
          <a:lstStyle/>
          <a:p>
            <a:fld id="{5382BD24-81AD-4E51-BAE1-BE7180816926}" type="slidenum">
              <a:rPr lang="en-US" smtClean="0"/>
              <a:t>4</a:t>
            </a:fld>
            <a:endParaRPr lang="en-US"/>
          </a:p>
        </p:txBody>
      </p:sp>
    </p:spTree>
    <p:extLst>
      <p:ext uri="{BB962C8B-B14F-4D97-AF65-F5344CB8AC3E}">
        <p14:creationId xmlns:p14="http://schemas.microsoft.com/office/powerpoint/2010/main" val="2664480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 Value (PV) refers to the current worth of a sum of money that will be received in the future, discounted at a specific interest rate. Future Value (FV) indicates how much a current investment will grow over time at a given interest rate.</a:t>
            </a:r>
          </a:p>
        </p:txBody>
      </p:sp>
      <p:sp>
        <p:nvSpPr>
          <p:cNvPr id="4" name="Slide Number Placeholder 3"/>
          <p:cNvSpPr>
            <a:spLocks noGrp="1"/>
          </p:cNvSpPr>
          <p:nvPr>
            <p:ph type="sldNum" sz="quarter" idx="5"/>
          </p:nvPr>
        </p:nvSpPr>
        <p:spPr/>
        <p:txBody>
          <a:bodyPr/>
          <a:lstStyle/>
          <a:p>
            <a:fld id="{5382BD24-81AD-4E51-BAE1-BE7180816926}" type="slidenum">
              <a:rPr lang="en-US" smtClean="0"/>
              <a:t>5</a:t>
            </a:fld>
            <a:endParaRPr lang="en-US"/>
          </a:p>
        </p:txBody>
      </p:sp>
    </p:spTree>
    <p:extLst>
      <p:ext uri="{BB962C8B-B14F-4D97-AF65-F5344CB8AC3E}">
        <p14:creationId xmlns:p14="http://schemas.microsoft.com/office/powerpoint/2010/main" val="232752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Time Value of Money is based on several key assumptions, including the idea that money can earn interest, inflation affects purchasing power, and that investors prefer to have money now rather than later.</a:t>
            </a:r>
          </a:p>
        </p:txBody>
      </p:sp>
      <p:sp>
        <p:nvSpPr>
          <p:cNvPr id="4" name="Slide Number Placeholder 3"/>
          <p:cNvSpPr>
            <a:spLocks noGrp="1"/>
          </p:cNvSpPr>
          <p:nvPr>
            <p:ph type="sldNum" sz="quarter" idx="5"/>
          </p:nvPr>
        </p:nvSpPr>
        <p:spPr/>
        <p:txBody>
          <a:bodyPr/>
          <a:lstStyle/>
          <a:p>
            <a:fld id="{5382BD24-81AD-4E51-BAE1-BE7180816926}" type="slidenum">
              <a:rPr lang="en-US" smtClean="0"/>
              <a:t>6</a:t>
            </a:fld>
            <a:endParaRPr lang="en-US"/>
          </a:p>
        </p:txBody>
      </p:sp>
    </p:spTree>
    <p:extLst>
      <p:ext uri="{BB962C8B-B14F-4D97-AF65-F5344CB8AC3E}">
        <p14:creationId xmlns:p14="http://schemas.microsoft.com/office/powerpoint/2010/main" val="1033809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apply the Time Value of Money in real-world scenarios, it is essential to understand the mathematical principles and formulas that govern its calculations.</a:t>
            </a:r>
          </a:p>
        </p:txBody>
      </p:sp>
      <p:sp>
        <p:nvSpPr>
          <p:cNvPr id="4" name="Slide Number Placeholder 3"/>
          <p:cNvSpPr>
            <a:spLocks noGrp="1"/>
          </p:cNvSpPr>
          <p:nvPr>
            <p:ph type="sldNum" sz="quarter" idx="5"/>
          </p:nvPr>
        </p:nvSpPr>
        <p:spPr/>
        <p:txBody>
          <a:bodyPr/>
          <a:lstStyle/>
          <a:p>
            <a:fld id="{5382BD24-81AD-4E51-BAE1-BE7180816926}" type="slidenum">
              <a:rPr lang="en-US" smtClean="0"/>
              <a:t>7</a:t>
            </a:fld>
            <a:endParaRPr lang="en-US"/>
          </a:p>
        </p:txBody>
      </p:sp>
    </p:spTree>
    <p:extLst>
      <p:ext uri="{BB962C8B-B14F-4D97-AF65-F5344CB8AC3E}">
        <p14:creationId xmlns:p14="http://schemas.microsoft.com/office/powerpoint/2010/main" val="355918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Present Value formula calculates the current worth of a future cash flow, given a specified rate of return: PV = FV / (1 + r)^n, where FV is the future value, r is the interest rate, and n is the number of periods.</a:t>
            </a:r>
          </a:p>
        </p:txBody>
      </p:sp>
      <p:sp>
        <p:nvSpPr>
          <p:cNvPr id="4" name="Slide Number Placeholder 3"/>
          <p:cNvSpPr>
            <a:spLocks noGrp="1"/>
          </p:cNvSpPr>
          <p:nvPr>
            <p:ph type="sldNum" sz="quarter" idx="5"/>
          </p:nvPr>
        </p:nvSpPr>
        <p:spPr/>
        <p:txBody>
          <a:bodyPr/>
          <a:lstStyle/>
          <a:p>
            <a:fld id="{5382BD24-81AD-4E51-BAE1-BE7180816926}" type="slidenum">
              <a:rPr lang="en-US" smtClean="0"/>
              <a:t>8</a:t>
            </a:fld>
            <a:endParaRPr lang="en-US"/>
          </a:p>
        </p:txBody>
      </p:sp>
    </p:spTree>
    <p:extLst>
      <p:ext uri="{BB962C8B-B14F-4D97-AF65-F5344CB8AC3E}">
        <p14:creationId xmlns:p14="http://schemas.microsoft.com/office/powerpoint/2010/main" val="2941911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Future Value formula determines how much a current investment will grow over time: FV = PV * (1 + r)^n. This formula helps investors understand the potential growth of their investments.</a:t>
            </a:r>
          </a:p>
        </p:txBody>
      </p:sp>
      <p:sp>
        <p:nvSpPr>
          <p:cNvPr id="4" name="Slide Number Placeholder 3"/>
          <p:cNvSpPr>
            <a:spLocks noGrp="1"/>
          </p:cNvSpPr>
          <p:nvPr>
            <p:ph type="sldNum" sz="quarter" idx="5"/>
          </p:nvPr>
        </p:nvSpPr>
        <p:spPr/>
        <p:txBody>
          <a:bodyPr/>
          <a:lstStyle/>
          <a:p>
            <a:fld id="{5382BD24-81AD-4E51-BAE1-BE7180816926}" type="slidenum">
              <a:rPr lang="en-US" smtClean="0"/>
              <a:t>9</a:t>
            </a:fld>
            <a:endParaRPr lang="en-US"/>
          </a:p>
        </p:txBody>
      </p:sp>
    </p:spTree>
    <p:extLst>
      <p:ext uri="{BB962C8B-B14F-4D97-AF65-F5344CB8AC3E}">
        <p14:creationId xmlns:p14="http://schemas.microsoft.com/office/powerpoint/2010/main" val="1209378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annuity is a series of equal payments made at regular intervals, while a perpetuity is an infinite series of equal payments. The formulas for these help in valuing cash flow streams and understanding their present and future values.</a:t>
            </a:r>
          </a:p>
        </p:txBody>
      </p:sp>
      <p:sp>
        <p:nvSpPr>
          <p:cNvPr id="4" name="Slide Number Placeholder 3"/>
          <p:cNvSpPr>
            <a:spLocks noGrp="1"/>
          </p:cNvSpPr>
          <p:nvPr>
            <p:ph type="sldNum" sz="quarter" idx="5"/>
          </p:nvPr>
        </p:nvSpPr>
        <p:spPr/>
        <p:txBody>
          <a:bodyPr/>
          <a:lstStyle/>
          <a:p>
            <a:fld id="{5382BD24-81AD-4E51-BAE1-BE7180816926}" type="slidenum">
              <a:rPr lang="en-US" smtClean="0"/>
              <a:t>10</a:t>
            </a:fld>
            <a:endParaRPr lang="en-US"/>
          </a:p>
        </p:txBody>
      </p:sp>
    </p:spTree>
    <p:extLst>
      <p:ext uri="{BB962C8B-B14F-4D97-AF65-F5344CB8AC3E}">
        <p14:creationId xmlns:p14="http://schemas.microsoft.com/office/powerpoint/2010/main" val="101414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Inflation and interest rates play a significant role in the Time Value of Money. Understanding these factors is essential for making sound financial decisions and investments.</a:t>
            </a:r>
          </a:p>
        </p:txBody>
      </p:sp>
      <p:sp>
        <p:nvSpPr>
          <p:cNvPr id="4" name="Slide Number Placeholder 3"/>
          <p:cNvSpPr>
            <a:spLocks noGrp="1"/>
          </p:cNvSpPr>
          <p:nvPr>
            <p:ph type="sldNum" sz="quarter" idx="5"/>
          </p:nvPr>
        </p:nvSpPr>
        <p:spPr/>
        <p:txBody>
          <a:bodyPr/>
          <a:lstStyle/>
          <a:p>
            <a:fld id="{5382BD24-81AD-4E51-BAE1-BE7180816926}" type="slidenum">
              <a:rPr lang="en-US" smtClean="0"/>
              <a:t>11</a:t>
            </a:fld>
            <a:endParaRPr lang="en-US"/>
          </a:p>
        </p:txBody>
      </p:sp>
    </p:spTree>
    <p:extLst>
      <p:ext uri="{BB962C8B-B14F-4D97-AF65-F5344CB8AC3E}">
        <p14:creationId xmlns:p14="http://schemas.microsoft.com/office/powerpoint/2010/main" val="1484823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Inflation erodes the purchasing power of money over time. As prices rise, the value of money decreases, making it crucial to factor inflation into financial planning and investment strategies.</a:t>
            </a:r>
          </a:p>
        </p:txBody>
      </p:sp>
      <p:sp>
        <p:nvSpPr>
          <p:cNvPr id="4" name="Slide Number Placeholder 3"/>
          <p:cNvSpPr>
            <a:spLocks noGrp="1"/>
          </p:cNvSpPr>
          <p:nvPr>
            <p:ph type="sldNum" sz="quarter" idx="5"/>
          </p:nvPr>
        </p:nvSpPr>
        <p:spPr/>
        <p:txBody>
          <a:bodyPr/>
          <a:lstStyle/>
          <a:p>
            <a:fld id="{5382BD24-81AD-4E51-BAE1-BE7180816926}" type="slidenum">
              <a:rPr lang="en-US" smtClean="0"/>
              <a:t>12</a:t>
            </a:fld>
            <a:endParaRPr lang="en-US"/>
          </a:p>
        </p:txBody>
      </p:sp>
    </p:spTree>
    <p:extLst>
      <p:ext uri="{BB962C8B-B14F-4D97-AF65-F5344CB8AC3E}">
        <p14:creationId xmlns:p14="http://schemas.microsoft.com/office/powerpoint/2010/main" val="839174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Interest rates determine how much money can earn over time. Higher interest rates increase the future value of investments, while lower rates can diminish potential earnings. Understanding the role of interest rates is vital for financial decision-making.</a:t>
            </a:r>
          </a:p>
        </p:txBody>
      </p:sp>
      <p:sp>
        <p:nvSpPr>
          <p:cNvPr id="4" name="Slide Number Placeholder 3"/>
          <p:cNvSpPr>
            <a:spLocks noGrp="1"/>
          </p:cNvSpPr>
          <p:nvPr>
            <p:ph type="sldNum" sz="quarter" idx="5"/>
          </p:nvPr>
        </p:nvSpPr>
        <p:spPr/>
        <p:txBody>
          <a:bodyPr/>
          <a:lstStyle/>
          <a:p>
            <a:fld id="{5382BD24-81AD-4E51-BAE1-BE7180816926}" type="slidenum">
              <a:rPr lang="en-US" smtClean="0"/>
              <a:t>13</a:t>
            </a:fld>
            <a:endParaRPr lang="en-US"/>
          </a:p>
        </p:txBody>
      </p:sp>
    </p:spTree>
    <p:extLst>
      <p:ext uri="{BB962C8B-B14F-4D97-AF65-F5344CB8AC3E}">
        <p14:creationId xmlns:p14="http://schemas.microsoft.com/office/powerpoint/2010/main" val="8179647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Nominal interest rates are the stated rates without adjusting for inflation, while real interest rates account for inflation, reflecting the true purchasing power of money. Differentiating between these rates is crucial for evaluating investment returns.</a:t>
            </a:r>
          </a:p>
        </p:txBody>
      </p:sp>
      <p:sp>
        <p:nvSpPr>
          <p:cNvPr id="4" name="Slide Number Placeholder 3"/>
          <p:cNvSpPr>
            <a:spLocks noGrp="1"/>
          </p:cNvSpPr>
          <p:nvPr>
            <p:ph type="sldNum" sz="quarter" idx="5"/>
          </p:nvPr>
        </p:nvSpPr>
        <p:spPr/>
        <p:txBody>
          <a:bodyPr/>
          <a:lstStyle/>
          <a:p>
            <a:fld id="{5382BD24-81AD-4E51-BAE1-BE7180816926}" type="slidenum">
              <a:rPr lang="en-US" smtClean="0"/>
              <a:t>14</a:t>
            </a:fld>
            <a:endParaRPr lang="en-US"/>
          </a:p>
        </p:txBody>
      </p:sp>
    </p:spTree>
    <p:extLst>
      <p:ext uri="{BB962C8B-B14F-4D97-AF65-F5344CB8AC3E}">
        <p14:creationId xmlns:p14="http://schemas.microsoft.com/office/powerpoint/2010/main" val="3816376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Time Value of Money is a foundational concept in finance that influences investment decisions, savings strategies, and financial planning. By understanding its principles, mathematical formulas, and the impact of economic factors, individuals can make more informed financial choices.</a:t>
            </a:r>
          </a:p>
        </p:txBody>
      </p:sp>
      <p:sp>
        <p:nvSpPr>
          <p:cNvPr id="4" name="Slide Number Placeholder 3"/>
          <p:cNvSpPr>
            <a:spLocks noGrp="1"/>
          </p:cNvSpPr>
          <p:nvPr>
            <p:ph type="sldNum" sz="quarter" idx="5"/>
          </p:nvPr>
        </p:nvSpPr>
        <p:spPr/>
        <p:txBody>
          <a:bodyPr/>
          <a:lstStyle/>
          <a:p>
            <a:fld id="{5382BD24-81AD-4E51-BAE1-BE7180816926}" type="slidenum">
              <a:rPr lang="en-US" smtClean="0"/>
              <a:t>15</a:t>
            </a:fld>
            <a:endParaRPr lang="en-US"/>
          </a:p>
        </p:txBody>
      </p:sp>
    </p:spTree>
    <p:extLst>
      <p:ext uri="{BB962C8B-B14F-4D97-AF65-F5344CB8AC3E}">
        <p14:creationId xmlns:p14="http://schemas.microsoft.com/office/powerpoint/2010/main" val="4108606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6/5/2025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53960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6/5/2025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73447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6/5/2025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155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6/5/2025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51810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6/5/2025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19704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6/5/2025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791938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6/5/2025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32159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6/5/2025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6217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6/5/2025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054846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6/5/2025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49129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6/5/2025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830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6/5/2025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89503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descr="Calculator, pen, compass, money and a paper with graphs printed on it">
            <a:extLst>
              <a:ext uri="{FF2B5EF4-FFF2-40B4-BE49-F238E27FC236}">
                <a16:creationId xmlns:a16="http://schemas.microsoft.com/office/drawing/2014/main" id="{3E632BCC-F127-40E0-B0CE-540DBB34531D}"/>
              </a:ext>
            </a:extLst>
          </p:cNvPr>
          <p:cNvPicPr>
            <a:picLocks noChangeAspect="1"/>
          </p:cNvPicPr>
          <p:nvPr/>
        </p:nvPicPr>
        <p:blipFill>
          <a:blip r:embed="rId3"/>
          <a:srcRect t="5117" r="984" b="2441"/>
          <a:stretch>
            <a:fillRect/>
          </a:stretch>
        </p:blipFill>
        <p:spPr>
          <a:xfrm>
            <a:off x="20" y="1"/>
            <a:ext cx="12191979" cy="6858000"/>
          </a:xfrm>
          <a:prstGeom prst="rect">
            <a:avLst/>
          </a:prstGeom>
        </p:spPr>
      </p:pic>
      <p:sp>
        <p:nvSpPr>
          <p:cNvPr id="11" name="Rectangle 10">
            <a:extLst>
              <a:ext uri="{FF2B5EF4-FFF2-40B4-BE49-F238E27FC236}">
                <a16:creationId xmlns:a16="http://schemas.microsoft.com/office/drawing/2014/main" id="{05DEC45B-BA77-21C0-3869-05DE7C923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5705856"/>
            <a:ext cx="12192001" cy="1152144"/>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5380DE0A-5780-D7E0-EB06-E74D13B28CED}"/>
              </a:ext>
            </a:extLst>
          </p:cNvPr>
          <p:cNvSpPr>
            <a:spLocks noGrp="1"/>
          </p:cNvSpPr>
          <p:nvPr>
            <p:ph type="ctrTitle"/>
          </p:nvPr>
        </p:nvSpPr>
        <p:spPr>
          <a:xfrm>
            <a:off x="356615" y="5863030"/>
            <a:ext cx="7955280" cy="870008"/>
          </a:xfrm>
        </p:spPr>
        <p:txBody>
          <a:bodyPr anchor="ctr">
            <a:normAutofit/>
          </a:bodyPr>
          <a:lstStyle/>
          <a:p>
            <a:pPr>
              <a:lnSpc>
                <a:spcPct val="90000"/>
              </a:lnSpc>
            </a:pPr>
            <a:r>
              <a:rPr lang="en-US" sz="2600"/>
              <a:t>Understanding the Time Value of Money: Principles and Applications</a:t>
            </a:r>
          </a:p>
        </p:txBody>
      </p:sp>
      <p:sp>
        <p:nvSpPr>
          <p:cNvPr id="3" name="Subtitle 2">
            <a:extLst>
              <a:ext uri="{FF2B5EF4-FFF2-40B4-BE49-F238E27FC236}">
                <a16:creationId xmlns:a16="http://schemas.microsoft.com/office/drawing/2014/main" id="{4D773F28-740C-1667-57DF-FC832757F747}"/>
              </a:ext>
            </a:extLst>
          </p:cNvPr>
          <p:cNvSpPr>
            <a:spLocks noGrp="1"/>
          </p:cNvSpPr>
          <p:nvPr>
            <p:ph type="subTitle" idx="1"/>
          </p:nvPr>
        </p:nvSpPr>
        <p:spPr>
          <a:xfrm>
            <a:off x="8308323" y="5863030"/>
            <a:ext cx="3527062" cy="870008"/>
          </a:xfrm>
        </p:spPr>
        <p:txBody>
          <a:bodyPr anchor="ctr">
            <a:normAutofit/>
          </a:bodyPr>
          <a:lstStyle/>
          <a:p>
            <a:pPr algn="r"/>
            <a:r>
              <a:rPr lang="en-US" sz="1500"/>
              <a:t>Exploring concepts of money's value over time</a:t>
            </a:r>
          </a:p>
        </p:txBody>
      </p:sp>
      <p:cxnSp>
        <p:nvCxnSpPr>
          <p:cNvPr id="13" name="Straight Connector 12">
            <a:extLst>
              <a:ext uri="{FF2B5EF4-FFF2-40B4-BE49-F238E27FC236}">
                <a16:creationId xmlns:a16="http://schemas.microsoft.com/office/drawing/2014/main" id="{7A0A4642-D29D-0121-4C05-5A5559BC5F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568323" y="6281928"/>
            <a:ext cx="1152144"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648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E4AB0-300C-6F02-EE38-47855F2B089A}"/>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600"/>
              <a:t>Agenda Highlights</a:t>
            </a:r>
          </a:p>
        </p:txBody>
      </p:sp>
      <p:pic>
        <p:nvPicPr>
          <p:cNvPr id="5" name="Content Placeholder 4" descr="Calculator and coins in sepia">
            <a:extLst>
              <a:ext uri="{FF2B5EF4-FFF2-40B4-BE49-F238E27FC236}">
                <a16:creationId xmlns:a16="http://schemas.microsoft.com/office/drawing/2014/main" id="{8CCAE882-8D61-4816-A864-8ACD9DC2BDD5}"/>
              </a:ext>
            </a:extLst>
          </p:cNvPr>
          <p:cNvPicPr>
            <a:picLocks noGrp="1" noChangeAspect="1"/>
          </p:cNvPicPr>
          <p:nvPr>
            <p:ph sz="half" idx="1"/>
          </p:nvPr>
        </p:nvPicPr>
        <p:blipFill>
          <a:blip r:embed="rId3"/>
          <a:srcRect l="16683" r="1" b="1"/>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7522B13-D0B4-785C-F786-30F2D94E867E}"/>
              </a:ext>
            </a:extLst>
          </p:cNvPr>
          <p:cNvSpPr>
            <a:spLocks noGrp="1"/>
          </p:cNvSpPr>
          <p:nvPr>
            <p:ph sz="half" idx="2"/>
            <p:extLst>
              <p:ext uri="{E7BDC344-281C-4309-B0C6-D0EE65EED2A8}">
                <p202:designPr xmlns:p202="http://schemas.microsoft.com/office/powerpoint/2020/02/main">
                  <p202:designTagLst>
                    <p202:designTag name="ARCH:1:CLS" val="BulletedText"/>
                  </p202:designTagLst>
                </p202:designPr>
              </p:ext>
            </p:extLst>
          </p:nvPr>
        </p:nvSpPr>
        <p:spPr>
          <a:xfrm>
            <a:off x="7269905" y="2176036"/>
            <a:ext cx="4261104" cy="4121887"/>
          </a:xfrm>
        </p:spPr>
        <p:txBody>
          <a:bodyPr vert="horz" lIns="91440" tIns="45720" rIns="91440" bIns="45720" rtlCol="0">
            <a:normAutofit/>
          </a:bodyPr>
          <a:lstStyle/>
          <a:p>
            <a:r>
              <a:rPr lang="en-US"/>
              <a:t>Fundamentals of Time Value of Money</a:t>
            </a:r>
          </a:p>
          <a:p>
            <a:r>
              <a:rPr lang="en-US"/>
              <a:t>Mathematical Principles and Formulas</a:t>
            </a:r>
          </a:p>
          <a:p>
            <a:r>
              <a:rPr lang="en-US"/>
              <a:t>Impact of Inflation and Interest Rates</a:t>
            </a:r>
          </a:p>
        </p:txBody>
      </p:sp>
    </p:spTree>
    <p:extLst>
      <p:ext uri="{BB962C8B-B14F-4D97-AF65-F5344CB8AC3E}">
        <p14:creationId xmlns:p14="http://schemas.microsoft.com/office/powerpoint/2010/main" val="18347652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4E422DB-7340-2794-5BD3-FA678361C04B}"/>
              </a:ext>
            </a:extLst>
          </p:cNvPr>
          <p:cNvSpPr>
            <a:spLocks noGrp="1"/>
          </p:cNvSpPr>
          <p:nvPr>
            <p:ph type="ctrTitle"/>
          </p:nvPr>
        </p:nvSpPr>
        <p:spPr>
          <a:xfrm>
            <a:off x="559219" y="1115844"/>
            <a:ext cx="7680960" cy="4631911"/>
          </a:xfrm>
        </p:spPr>
        <p:txBody>
          <a:bodyPr anchor="b">
            <a:normAutofit/>
          </a:bodyPr>
          <a:lstStyle/>
          <a:p>
            <a:r>
              <a:rPr lang="en-US" sz="6500"/>
              <a:t>Fundamentals of Time Value of Money</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348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02C5D3-7762-C03B-B0F7-2B29B6ABA69D}"/>
              </a:ext>
            </a:extLst>
          </p:cNvPr>
          <p:cNvSpPr>
            <a:spLocks noGrp="1"/>
          </p:cNvSpPr>
          <p:nvPr>
            <p:ph type="title"/>
          </p:nvPr>
        </p:nvSpPr>
        <p:spPr>
          <a:xfrm>
            <a:off x="8719126" y="979051"/>
            <a:ext cx="2811879" cy="1807048"/>
          </a:xfrm>
        </p:spPr>
        <p:txBody>
          <a:bodyPr vert="horz" lIns="91440" tIns="45720" rIns="91440" bIns="45720" rtlCol="0" anchor="b">
            <a:normAutofit/>
          </a:bodyPr>
          <a:lstStyle/>
          <a:p>
            <a:r>
              <a:rPr lang="en-US" sz="3600"/>
              <a:t>Definition and Importance</a:t>
            </a:r>
          </a:p>
        </p:txBody>
      </p:sp>
      <p:pic>
        <p:nvPicPr>
          <p:cNvPr id="5" name="Content Placeholder 4" descr="Growing money">
            <a:extLst>
              <a:ext uri="{FF2B5EF4-FFF2-40B4-BE49-F238E27FC236}">
                <a16:creationId xmlns:a16="http://schemas.microsoft.com/office/drawing/2014/main" id="{BB83C8A3-F735-4B62-AA1F-7E4BCDD0847A}"/>
              </a:ext>
            </a:extLst>
          </p:cNvPr>
          <p:cNvPicPr>
            <a:picLocks noGrp="1" noChangeAspect="1"/>
          </p:cNvPicPr>
          <p:nvPr>
            <p:ph sz="half" idx="1"/>
          </p:nvPr>
        </p:nvPicPr>
        <p:blipFill>
          <a:blip r:embed="rId3"/>
          <a:srcRect l="256" r="5368" b="-1"/>
          <a:stretch>
            <a:fillRect/>
          </a:stretch>
        </p:blipFill>
        <p:spPr>
          <a:xfrm>
            <a:off x="20" y="535709"/>
            <a:ext cx="8229580" cy="5820640"/>
          </a:xfrm>
          <a:prstGeom prst="rect">
            <a:avLst/>
          </a:prstGeom>
        </p:spPr>
      </p:pic>
      <p:cxnSp>
        <p:nvCxnSpPr>
          <p:cNvPr id="14" name="Straight Connector 13">
            <a:extLst>
              <a:ext uri="{FF2B5EF4-FFF2-40B4-BE49-F238E27FC236}">
                <a16:creationId xmlns:a16="http://schemas.microsoft.com/office/drawing/2014/main" id="{02C7985C-B0C3-CC50-E86A-B5EBA40E01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 y="6359240"/>
            <a:ext cx="82296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1AFBBB4-4815-361E-737C-F356C4B0B90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719128" y="2922624"/>
            <a:ext cx="2811880" cy="3409950"/>
          </a:xfrm>
        </p:spPr>
        <p:txBody>
          <a:bodyPr>
            <a:normAutofit/>
          </a:bodyPr>
          <a:lstStyle/>
          <a:p>
            <a:pPr marL="0" indent="0">
              <a:lnSpc>
                <a:spcPct val="110000"/>
              </a:lnSpc>
              <a:spcBef>
                <a:spcPts val="2500"/>
              </a:spcBef>
              <a:buNone/>
            </a:pPr>
            <a:r>
              <a:rPr lang="en-US" sz="1000" b="1"/>
              <a:t>Time Value of Money</a:t>
            </a:r>
          </a:p>
          <a:p>
            <a:pPr marL="0" lvl="1" indent="0">
              <a:lnSpc>
                <a:spcPct val="110000"/>
              </a:lnSpc>
              <a:buNone/>
            </a:pPr>
            <a:r>
              <a:rPr lang="en-US" sz="1000"/>
              <a:t>The Time Value of Money demonstrates that money available now is worth more than the same amount in the future due to earning potential.</a:t>
            </a:r>
          </a:p>
          <a:p>
            <a:pPr marL="0" indent="0">
              <a:lnSpc>
                <a:spcPct val="110000"/>
              </a:lnSpc>
              <a:spcBef>
                <a:spcPts val="2500"/>
              </a:spcBef>
              <a:buNone/>
            </a:pPr>
            <a:r>
              <a:rPr lang="en-US" sz="1000" b="1"/>
              <a:t>Financial Planning</a:t>
            </a:r>
          </a:p>
          <a:p>
            <a:pPr marL="0" lvl="1" indent="0">
              <a:lnSpc>
                <a:spcPct val="110000"/>
              </a:lnSpc>
              <a:buNone/>
            </a:pPr>
            <a:r>
              <a:rPr lang="en-US" sz="1000"/>
              <a:t>Understanding this principle is essential for effective financial planning, ensuring that money is invested wisely to maximize returns.</a:t>
            </a:r>
          </a:p>
          <a:p>
            <a:pPr marL="0" indent="0">
              <a:lnSpc>
                <a:spcPct val="110000"/>
              </a:lnSpc>
              <a:spcBef>
                <a:spcPts val="2500"/>
              </a:spcBef>
              <a:buNone/>
            </a:pPr>
            <a:r>
              <a:rPr lang="en-US" sz="1000" b="1"/>
              <a:t>Investment Strategies</a:t>
            </a:r>
          </a:p>
          <a:p>
            <a:pPr marL="0" lvl="1" indent="0">
              <a:lnSpc>
                <a:spcPct val="110000"/>
              </a:lnSpc>
              <a:buNone/>
            </a:pPr>
            <a:r>
              <a:rPr lang="en-US" sz="1000"/>
              <a:t>Investment strategies rely on the Time Value of Money to evaluate potential returns and make informed decisions.</a:t>
            </a:r>
          </a:p>
        </p:txBody>
      </p:sp>
    </p:spTree>
    <p:extLst>
      <p:ext uri="{BB962C8B-B14F-4D97-AF65-F5344CB8AC3E}">
        <p14:creationId xmlns:p14="http://schemas.microsoft.com/office/powerpoint/2010/main" val="36830127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89119C-A6E7-8C12-EBCF-A1DA40A4FA59}"/>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800"/>
              <a:t>Basic Concepts: Present Value and Future Value</a:t>
            </a:r>
          </a:p>
        </p:txBody>
      </p:sp>
      <p:pic>
        <p:nvPicPr>
          <p:cNvPr id="5" name="Content Placeholder 4" descr="Money Growth Concept. Plants On Coins">
            <a:extLst>
              <a:ext uri="{FF2B5EF4-FFF2-40B4-BE49-F238E27FC236}">
                <a16:creationId xmlns:a16="http://schemas.microsoft.com/office/drawing/2014/main" id="{B99B3E61-230E-4119-A322-A625D2B51A11}"/>
              </a:ext>
            </a:extLst>
          </p:cNvPr>
          <p:cNvPicPr>
            <a:picLocks noGrp="1" noChangeAspect="1"/>
          </p:cNvPicPr>
          <p:nvPr>
            <p:ph sz="half" idx="1"/>
          </p:nvPr>
        </p:nvPicPr>
        <p:blipFill>
          <a:blip r:embed="rId3"/>
          <a:srcRect l="16994" r="2" b="2"/>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439243BE-581A-7EBB-9C15-62D51B1F542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Understanding Present Value</a:t>
            </a:r>
          </a:p>
          <a:p>
            <a:pPr marL="0" lvl="1" indent="0">
              <a:buNone/>
            </a:pPr>
            <a:r>
              <a:rPr lang="en-US" sz="1400"/>
              <a:t>Present Value calculates the current worth of future cash flows by discounting them at a specific interest rate.</a:t>
            </a:r>
          </a:p>
          <a:p>
            <a:pPr marL="0" indent="0">
              <a:spcBef>
                <a:spcPts val="2500"/>
              </a:spcBef>
              <a:buNone/>
            </a:pPr>
            <a:r>
              <a:rPr lang="en-US" sz="1400" b="1"/>
              <a:t>Understanding Future Value</a:t>
            </a:r>
          </a:p>
          <a:p>
            <a:pPr marL="0" lvl="1" indent="0">
              <a:buNone/>
            </a:pPr>
            <a:r>
              <a:rPr lang="en-US" sz="1400"/>
              <a:t>Future Value indicates how much current investments will yield over time, based on a specific interest rate.</a:t>
            </a:r>
          </a:p>
        </p:txBody>
      </p:sp>
    </p:spTree>
    <p:extLst>
      <p:ext uri="{BB962C8B-B14F-4D97-AF65-F5344CB8AC3E}">
        <p14:creationId xmlns:p14="http://schemas.microsoft.com/office/powerpoint/2010/main" val="2585063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001FBF-E707-09EA-1568-069FDE3348C2}"/>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Underlying Assumptions</a:t>
            </a:r>
          </a:p>
        </p:txBody>
      </p:sp>
      <p:pic>
        <p:nvPicPr>
          <p:cNvPr id="5" name="Content Placeholder 4" descr="3D Arrow of Growth made of grass And Gold Coins. Success Concept. Horizontal composition with copy space.">
            <a:extLst>
              <a:ext uri="{FF2B5EF4-FFF2-40B4-BE49-F238E27FC236}">
                <a16:creationId xmlns:a16="http://schemas.microsoft.com/office/drawing/2014/main" id="{C96DFE87-54A1-42CD-A69E-DB8F969EACDF}"/>
              </a:ext>
            </a:extLst>
          </p:cNvPr>
          <p:cNvPicPr>
            <a:picLocks noGrp="1" noChangeAspect="1"/>
          </p:cNvPicPr>
          <p:nvPr>
            <p:ph sz="half" idx="1"/>
          </p:nvPr>
        </p:nvPicPr>
        <p:blipFill>
          <a:blip r:embed="rId3"/>
          <a:srcRect l="21193" r="25802" b="1"/>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A59898BB-0847-130E-915A-C281CF5249B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Money Earning Interest</a:t>
            </a:r>
          </a:p>
          <a:p>
            <a:pPr marL="0" lvl="1" indent="0">
              <a:buNone/>
            </a:pPr>
            <a:r>
              <a:rPr lang="en-US" sz="1400"/>
              <a:t>The assumption that money can earn interest over time is fundamental to the Time Value of Money concept.</a:t>
            </a:r>
          </a:p>
          <a:p>
            <a:pPr marL="0" indent="0">
              <a:spcBef>
                <a:spcPts val="2500"/>
              </a:spcBef>
              <a:buNone/>
            </a:pPr>
            <a:r>
              <a:rPr lang="en-US" sz="1400" b="1"/>
              <a:t>Impact of Inflation</a:t>
            </a:r>
          </a:p>
          <a:p>
            <a:pPr marL="0" lvl="1" indent="0">
              <a:buNone/>
            </a:pPr>
            <a:r>
              <a:rPr lang="en-US" sz="1400"/>
              <a:t>Inflation diminishes purchasing power, making it essential to consider its effects when assessing the value of money over time.</a:t>
            </a:r>
          </a:p>
          <a:p>
            <a:pPr marL="0" indent="0">
              <a:spcBef>
                <a:spcPts val="2500"/>
              </a:spcBef>
              <a:buNone/>
            </a:pPr>
            <a:r>
              <a:rPr lang="en-US" sz="1400" b="1"/>
              <a:t>Preference for Present Value</a:t>
            </a:r>
          </a:p>
          <a:p>
            <a:pPr marL="0" lvl="1" indent="0">
              <a:buNone/>
            </a:pPr>
            <a:r>
              <a:rPr lang="en-US" sz="1400"/>
              <a:t>Investors typically prefer to receive money now rather than later, reflecting the Time Value of Money principle.</a:t>
            </a:r>
          </a:p>
        </p:txBody>
      </p:sp>
    </p:spTree>
    <p:extLst>
      <p:ext uri="{BB962C8B-B14F-4D97-AF65-F5344CB8AC3E}">
        <p14:creationId xmlns:p14="http://schemas.microsoft.com/office/powerpoint/2010/main" val="5105934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1CA58DA9-D4AD-EF6A-26BD-E4CEAE43E232}"/>
              </a:ext>
            </a:extLst>
          </p:cNvPr>
          <p:cNvSpPr>
            <a:spLocks noGrp="1"/>
          </p:cNvSpPr>
          <p:nvPr>
            <p:ph type="ctrTitle"/>
          </p:nvPr>
        </p:nvSpPr>
        <p:spPr>
          <a:xfrm>
            <a:off x="559219" y="1115844"/>
            <a:ext cx="7680960" cy="4631911"/>
          </a:xfrm>
        </p:spPr>
        <p:txBody>
          <a:bodyPr anchor="b">
            <a:normAutofit/>
          </a:bodyPr>
          <a:lstStyle/>
          <a:p>
            <a:r>
              <a:rPr lang="en-US" sz="6500"/>
              <a:t>Mathematical Principles and Formulas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1756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63ACDB-953E-1ABB-0144-A7383FA4BE3A}"/>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Present Value Formula</a:t>
            </a:r>
          </a:p>
        </p:txBody>
      </p:sp>
      <p:pic>
        <p:nvPicPr>
          <p:cNvPr id="5" name="Content Placeholder 4" descr="petrol and chart on blackboard concept oil increasing dependency is dangerous">
            <a:extLst>
              <a:ext uri="{FF2B5EF4-FFF2-40B4-BE49-F238E27FC236}">
                <a16:creationId xmlns:a16="http://schemas.microsoft.com/office/drawing/2014/main" id="{770AC291-3522-4466-8076-384AC2F5896E}"/>
              </a:ext>
            </a:extLst>
          </p:cNvPr>
          <p:cNvPicPr>
            <a:picLocks noGrp="1" noChangeAspect="1"/>
          </p:cNvPicPr>
          <p:nvPr>
            <p:ph sz="half" idx="1"/>
          </p:nvPr>
        </p:nvPicPr>
        <p:blipFill>
          <a:blip r:embed="rId3"/>
          <a:srcRect l="26899" r="19890"/>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4B655BF0-A019-CC2A-E329-6B0562D21F7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Understanding Present Value</a:t>
            </a:r>
          </a:p>
          <a:p>
            <a:pPr marL="0" lvl="1" indent="0">
              <a:buNone/>
            </a:pPr>
            <a:r>
              <a:rPr lang="en-US" sz="1400"/>
              <a:t>The Present Value formula helps in determining the current worth of future cash flows based on a specific rate of return.</a:t>
            </a:r>
          </a:p>
          <a:p>
            <a:pPr marL="0" indent="0">
              <a:spcBef>
                <a:spcPts val="2500"/>
              </a:spcBef>
              <a:buNone/>
            </a:pPr>
            <a:r>
              <a:rPr lang="en-US" sz="1400" b="1"/>
              <a:t>Components of the Formula</a:t>
            </a:r>
          </a:p>
          <a:p>
            <a:pPr marL="0" lvl="1" indent="0">
              <a:buNone/>
            </a:pPr>
            <a:r>
              <a:rPr lang="en-US" sz="1400"/>
              <a:t>The formula comprises three main components: future value (FV), interest rate (r), and number of periods (n).</a:t>
            </a:r>
          </a:p>
          <a:p>
            <a:pPr marL="0" indent="0">
              <a:spcBef>
                <a:spcPts val="2500"/>
              </a:spcBef>
              <a:buNone/>
            </a:pPr>
            <a:r>
              <a:rPr lang="en-US" sz="1400" b="1"/>
              <a:t>Applications of Present Value</a:t>
            </a:r>
          </a:p>
          <a:p>
            <a:pPr marL="0" lvl="1" indent="0">
              <a:buNone/>
            </a:pPr>
            <a:r>
              <a:rPr lang="en-US" sz="1400"/>
              <a:t>Understanding present value is crucial for making informed financial decisions, such as investments and loans.</a:t>
            </a:r>
          </a:p>
        </p:txBody>
      </p:sp>
    </p:spTree>
    <p:extLst>
      <p:ext uri="{BB962C8B-B14F-4D97-AF65-F5344CB8AC3E}">
        <p14:creationId xmlns:p14="http://schemas.microsoft.com/office/powerpoint/2010/main" val="12170305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982328-8B32-1B40-B4EA-F29E465DF9AF}"/>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en-US"/>
              <a:t>Future Value Formula</a:t>
            </a:r>
          </a:p>
        </p:txBody>
      </p:sp>
      <p:sp>
        <p:nvSpPr>
          <p:cNvPr id="4" name="Content Placeholder 3">
            <a:extLst>
              <a:ext uri="{FF2B5EF4-FFF2-40B4-BE49-F238E27FC236}">
                <a16:creationId xmlns:a16="http://schemas.microsoft.com/office/drawing/2014/main" id="{D96C019F-62EC-6917-A5B5-D49215CCE7A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Understanding Future Value</a:t>
            </a:r>
          </a:p>
          <a:p>
            <a:pPr marL="0" lvl="1" indent="0">
              <a:buNone/>
            </a:pPr>
            <a:r>
              <a:rPr lang="en-US" sz="1400"/>
              <a:t>The Future Value formula helps investors calculate the growth of their current investments over a specified period.</a:t>
            </a:r>
          </a:p>
          <a:p>
            <a:pPr marL="0" indent="0">
              <a:spcBef>
                <a:spcPts val="2500"/>
              </a:spcBef>
              <a:buNone/>
            </a:pPr>
            <a:r>
              <a:rPr lang="en-US" sz="1400" b="1"/>
              <a:t>The Formula Breakdown</a:t>
            </a:r>
          </a:p>
          <a:p>
            <a:pPr marL="0" lvl="1" indent="0">
              <a:buNone/>
            </a:pPr>
            <a:r>
              <a:rPr lang="en-US" sz="1400"/>
              <a:t>The formula FV = PV * (1 + r)^n explains how present value, interest rate, and time influence future value.</a:t>
            </a:r>
          </a:p>
          <a:p>
            <a:pPr marL="0" indent="0">
              <a:spcBef>
                <a:spcPts val="2500"/>
              </a:spcBef>
              <a:buNone/>
            </a:pPr>
            <a:r>
              <a:rPr lang="en-US" sz="1400" b="1"/>
              <a:t>Importance for Investors</a:t>
            </a:r>
          </a:p>
          <a:p>
            <a:pPr marL="0" lvl="1" indent="0">
              <a:buNone/>
            </a:pPr>
            <a:r>
              <a:rPr lang="en-US" sz="1400"/>
              <a:t>Understanding the Future Value formula allows investors to make informed decisions about their investments and financial planning.</a:t>
            </a:r>
          </a:p>
        </p:txBody>
      </p:sp>
      <p:pic>
        <p:nvPicPr>
          <p:cNvPr id="5" name="Content Placeholder 4" descr="conceptual image of one hundred dollar bill frame over colored chart and clock.">
            <a:extLst>
              <a:ext uri="{FF2B5EF4-FFF2-40B4-BE49-F238E27FC236}">
                <a16:creationId xmlns:a16="http://schemas.microsoft.com/office/drawing/2014/main" id="{0F04A76E-ADAE-49A7-B1E6-E2A7E2FB7E74}"/>
              </a:ext>
            </a:extLst>
          </p:cNvPr>
          <p:cNvPicPr>
            <a:picLocks noGrp="1" noChangeAspect="1"/>
          </p:cNvPicPr>
          <p:nvPr>
            <p:ph sz="half" idx="1"/>
          </p:nvPr>
        </p:nvPicPr>
        <p:blipFill>
          <a:blip r:embed="rId3"/>
          <a:srcRect l="33504" r="20760"/>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3597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4BD49-2029-0596-A1B6-D2635955B7AC}"/>
              </a:ext>
            </a:extLst>
          </p:cNvPr>
          <p:cNvSpPr>
            <a:spLocks noGrp="1"/>
          </p:cNvSpPr>
          <p:nvPr>
            <p:ph type="title"/>
          </p:nvPr>
        </p:nvSpPr>
        <p:spPr>
          <a:xfrm>
            <a:off x="7269904" y="914400"/>
            <a:ext cx="4261104" cy="1097280"/>
          </a:xfrm>
        </p:spPr>
        <p:txBody>
          <a:bodyPr vert="horz" lIns="91440" tIns="45720" rIns="91440" bIns="45720" rtlCol="0" anchor="t">
            <a:normAutofit/>
          </a:bodyPr>
          <a:lstStyle/>
          <a:p>
            <a:pPr>
              <a:lnSpc>
                <a:spcPct val="90000"/>
              </a:lnSpc>
            </a:pPr>
            <a:r>
              <a:rPr lang="en-US" sz="2800"/>
              <a:t>Annuities and Perpetuities Calculations</a:t>
            </a:r>
          </a:p>
        </p:txBody>
      </p:sp>
      <p:pic>
        <p:nvPicPr>
          <p:cNvPr id="5" name="Content Placeholder 4" descr="Balance Concept">
            <a:extLst>
              <a:ext uri="{FF2B5EF4-FFF2-40B4-BE49-F238E27FC236}">
                <a16:creationId xmlns:a16="http://schemas.microsoft.com/office/drawing/2014/main" id="{BF1CD875-E44E-4CC7-B223-02556A44D5AB}"/>
              </a:ext>
            </a:extLst>
          </p:cNvPr>
          <p:cNvPicPr>
            <a:picLocks noGrp="1" noChangeAspect="1"/>
          </p:cNvPicPr>
          <p:nvPr>
            <p:ph sz="half" idx="1"/>
          </p:nvPr>
        </p:nvPicPr>
        <p:blipFill>
          <a:blip r:embed="rId3"/>
          <a:srcRect l="6735"/>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61A523C-45D3-61A6-2134-314410A6287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69905" y="2176036"/>
            <a:ext cx="4261104" cy="4121887"/>
          </a:xfrm>
        </p:spPr>
        <p:txBody>
          <a:bodyPr>
            <a:normAutofit/>
          </a:bodyPr>
          <a:lstStyle/>
          <a:p>
            <a:pPr marL="0" indent="0">
              <a:spcBef>
                <a:spcPts val="2500"/>
              </a:spcBef>
              <a:buNone/>
            </a:pPr>
            <a:r>
              <a:rPr lang="en-US" sz="1400" b="1"/>
              <a:t>Understanding Annuities</a:t>
            </a:r>
          </a:p>
          <a:p>
            <a:pPr marL="0" lvl="1" indent="0">
              <a:buNone/>
            </a:pPr>
            <a:r>
              <a:rPr lang="en-US" sz="1400"/>
              <a:t>An annuity consists of equal payments made at regular intervals, helping individuals plan their financial future.</a:t>
            </a:r>
          </a:p>
          <a:p>
            <a:pPr marL="0" indent="0">
              <a:spcBef>
                <a:spcPts val="2500"/>
              </a:spcBef>
              <a:buNone/>
            </a:pPr>
            <a:r>
              <a:rPr lang="en-US" sz="1400" b="1"/>
              <a:t>Exploring Perpetuities</a:t>
            </a:r>
          </a:p>
          <a:p>
            <a:pPr marL="0" lvl="1" indent="0">
              <a:buNone/>
            </a:pPr>
            <a:r>
              <a:rPr lang="en-US" sz="1400"/>
              <a:t>A perpetuity is an infinite series of equal payments, valued for its usefulness in financial calculations.</a:t>
            </a:r>
          </a:p>
          <a:p>
            <a:pPr marL="0" indent="0">
              <a:spcBef>
                <a:spcPts val="2500"/>
              </a:spcBef>
              <a:buNone/>
            </a:pPr>
            <a:r>
              <a:rPr lang="en-US" sz="1400" b="1"/>
              <a:t>Valuing Cash Flow Streams</a:t>
            </a:r>
          </a:p>
          <a:p>
            <a:pPr marL="0" lvl="1" indent="0">
              <a:buNone/>
            </a:pPr>
            <a:r>
              <a:rPr lang="en-US" sz="1400"/>
              <a:t>The formulas for annuities and perpetuities aid in valuing cash flow streams and understanding their time value.</a:t>
            </a:r>
          </a:p>
        </p:txBody>
      </p:sp>
    </p:spTree>
    <p:extLst>
      <p:ext uri="{BB962C8B-B14F-4D97-AF65-F5344CB8AC3E}">
        <p14:creationId xmlns:p14="http://schemas.microsoft.com/office/powerpoint/2010/main" val="18970194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077F340E-1503-97A5-CB80-F58486D936AE}"/>
              </a:ext>
            </a:extLst>
          </p:cNvPr>
          <p:cNvSpPr>
            <a:spLocks noGrp="1"/>
          </p:cNvSpPr>
          <p:nvPr>
            <p:ph type="ctrTitle"/>
          </p:nvPr>
        </p:nvSpPr>
        <p:spPr>
          <a:xfrm>
            <a:off x="559219" y="1115844"/>
            <a:ext cx="7680960" cy="4631911"/>
          </a:xfrm>
        </p:spPr>
        <p:txBody>
          <a:bodyPr anchor="b">
            <a:normAutofit/>
          </a:bodyPr>
          <a:lstStyle/>
          <a:p>
            <a:r>
              <a:rPr lang="en-US" sz="6500"/>
              <a:t>Impact of Inflation and Interest Rates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009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0B74D4-6821-7957-097C-C0BCDB8F25C6}"/>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a:t>Effect of Inflation on Money Value</a:t>
            </a:r>
          </a:p>
        </p:txBody>
      </p:sp>
      <p:sp>
        <p:nvSpPr>
          <p:cNvPr id="4" name="Content Placeholder 3">
            <a:extLst>
              <a:ext uri="{FF2B5EF4-FFF2-40B4-BE49-F238E27FC236}">
                <a16:creationId xmlns:a16="http://schemas.microsoft.com/office/drawing/2014/main" id="{5C247F26-2F9A-BD3B-F5A0-EB42BCCBCDD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Purchasing Power Erosion</a:t>
            </a:r>
          </a:p>
          <a:p>
            <a:pPr marL="0" lvl="1" indent="0">
              <a:buNone/>
            </a:pPr>
            <a:r>
              <a:rPr lang="en-US" sz="1400"/>
              <a:t>Inflation reduces the purchasing power of money, meaning consumers can buy less with the same amount over time.</a:t>
            </a:r>
          </a:p>
          <a:p>
            <a:pPr marL="0" indent="0">
              <a:spcBef>
                <a:spcPts val="2500"/>
              </a:spcBef>
              <a:buNone/>
            </a:pPr>
            <a:r>
              <a:rPr lang="en-US" sz="1400" b="1"/>
              <a:t>Rising Prices</a:t>
            </a:r>
          </a:p>
          <a:p>
            <a:pPr marL="0" lvl="1" indent="0">
              <a:buNone/>
            </a:pPr>
            <a:r>
              <a:rPr lang="en-US" sz="1400"/>
              <a:t>As inflation causes prices to rise, the real value of money decreases, affecting everyday expenses.</a:t>
            </a:r>
          </a:p>
          <a:p>
            <a:pPr marL="0" indent="0">
              <a:spcBef>
                <a:spcPts val="2500"/>
              </a:spcBef>
              <a:buNone/>
            </a:pPr>
            <a:r>
              <a:rPr lang="en-US" sz="1400" b="1"/>
              <a:t>Financial Planning Importance</a:t>
            </a:r>
          </a:p>
          <a:p>
            <a:pPr marL="0" lvl="1" indent="0">
              <a:buNone/>
            </a:pPr>
            <a:r>
              <a:rPr lang="en-US" sz="1400"/>
              <a:t>Understanding inflation is crucial for effective financial planning and investment strategies to preserve wealth.</a:t>
            </a:r>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89B7E7F8-CF2F-4EF8-B1A8-37A70CCA8312}"/>
              </a:ext>
            </a:extLst>
          </p:cNvPr>
          <p:cNvPicPr>
            <a:picLocks noGrp="1" noChangeAspect="1"/>
          </p:cNvPicPr>
          <p:nvPr>
            <p:ph sz="half" idx="1"/>
          </p:nvPr>
        </p:nvPicPr>
        <p:blipFill>
          <a:blip r:embed="rId3"/>
          <a:srcRect l="29337" r="-2" b="-2"/>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72053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30F9C5-1288-B3AE-02AD-DFE570C2140E}"/>
              </a:ext>
            </a:extLst>
          </p:cNvPr>
          <p:cNvSpPr>
            <a:spLocks noGrp="1"/>
          </p:cNvSpPr>
          <p:nvPr>
            <p:ph type="title"/>
          </p:nvPr>
        </p:nvSpPr>
        <p:spPr>
          <a:xfrm>
            <a:off x="640080" y="914400"/>
            <a:ext cx="6291472" cy="1097280"/>
          </a:xfrm>
        </p:spPr>
        <p:txBody>
          <a:bodyPr vert="horz" lIns="91440" tIns="45720" rIns="91440" bIns="45720" rtlCol="0" anchor="t">
            <a:normAutofit/>
          </a:bodyPr>
          <a:lstStyle/>
          <a:p>
            <a:r>
              <a:rPr lang="en-US"/>
              <a:t>Role of Interest Rates</a:t>
            </a:r>
          </a:p>
        </p:txBody>
      </p:sp>
      <p:sp>
        <p:nvSpPr>
          <p:cNvPr id="4" name="Content Placeholder 3">
            <a:extLst>
              <a:ext uri="{FF2B5EF4-FFF2-40B4-BE49-F238E27FC236}">
                <a16:creationId xmlns:a16="http://schemas.microsoft.com/office/drawing/2014/main" id="{E187BF42-2D7F-55F0-A24B-A85E5C09D4D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0080" y="2176036"/>
            <a:ext cx="6291472" cy="4123944"/>
          </a:xfrm>
        </p:spPr>
        <p:txBody>
          <a:bodyPr>
            <a:normAutofit/>
          </a:bodyPr>
          <a:lstStyle/>
          <a:p>
            <a:pPr marL="0" indent="0">
              <a:spcBef>
                <a:spcPts val="2500"/>
              </a:spcBef>
              <a:buNone/>
            </a:pPr>
            <a:r>
              <a:rPr lang="en-US" sz="1400" b="1"/>
              <a:t>Impact on Investment Value</a:t>
            </a:r>
          </a:p>
          <a:p>
            <a:pPr marL="0" lvl="1" indent="0">
              <a:buNone/>
            </a:pPr>
            <a:r>
              <a:rPr lang="en-US" sz="1400"/>
              <a:t>Higher interest rates can significantly increase the future value of investments, making them more attractive to investors.</a:t>
            </a:r>
          </a:p>
          <a:p>
            <a:pPr marL="0" indent="0">
              <a:spcBef>
                <a:spcPts val="2500"/>
              </a:spcBef>
              <a:buNone/>
            </a:pPr>
            <a:r>
              <a:rPr lang="en-US" sz="1400" b="1"/>
              <a:t>Earnings Potential</a:t>
            </a:r>
          </a:p>
          <a:p>
            <a:pPr marL="0" lvl="1" indent="0">
              <a:buNone/>
            </a:pPr>
            <a:r>
              <a:rPr lang="en-US" sz="1400"/>
              <a:t>Lower interest rates may diminish potential earnings on savings and investments, impacting financial goals.</a:t>
            </a:r>
          </a:p>
          <a:p>
            <a:pPr marL="0" indent="0">
              <a:spcBef>
                <a:spcPts val="2500"/>
              </a:spcBef>
              <a:buNone/>
            </a:pPr>
            <a:r>
              <a:rPr lang="en-US" sz="1400" b="1"/>
              <a:t>Financial Decision-Making</a:t>
            </a:r>
          </a:p>
          <a:p>
            <a:pPr marL="0" lvl="1" indent="0">
              <a:buNone/>
            </a:pPr>
            <a:r>
              <a:rPr lang="en-US" sz="1400"/>
              <a:t>Understanding interest rates is crucial for making informed financial decisions, whether saving or investing.</a:t>
            </a:r>
          </a:p>
        </p:txBody>
      </p:sp>
      <p:pic>
        <p:nvPicPr>
          <p:cNvPr id="5" name="Content Placeholder 4" descr="Budget and calculator">
            <a:extLst>
              <a:ext uri="{FF2B5EF4-FFF2-40B4-BE49-F238E27FC236}">
                <a16:creationId xmlns:a16="http://schemas.microsoft.com/office/drawing/2014/main" id="{D78B707F-E386-4B8E-ABBB-70745045D713}"/>
              </a:ext>
            </a:extLst>
          </p:cNvPr>
          <p:cNvPicPr>
            <a:picLocks noGrp="1" noChangeAspect="1"/>
          </p:cNvPicPr>
          <p:nvPr>
            <p:ph sz="half" idx="1"/>
          </p:nvPr>
        </p:nvPicPr>
        <p:blipFill>
          <a:blip r:embed="rId3"/>
          <a:srcRect l="27048" r="18976"/>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81970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EDADA2-C5F1-49A4-76F7-674B55492EC8}"/>
              </a:ext>
            </a:extLst>
          </p:cNvPr>
          <p:cNvSpPr>
            <a:spLocks noGrp="1"/>
          </p:cNvSpPr>
          <p:nvPr>
            <p:ph type="title"/>
          </p:nvPr>
        </p:nvSpPr>
        <p:spPr>
          <a:xfrm>
            <a:off x="5029200" y="914400"/>
            <a:ext cx="6501810" cy="1097280"/>
          </a:xfrm>
        </p:spPr>
        <p:txBody>
          <a:bodyPr vert="horz" lIns="91440" tIns="45720" rIns="91440" bIns="45720" rtlCol="0" anchor="t">
            <a:normAutofit/>
          </a:bodyPr>
          <a:lstStyle/>
          <a:p>
            <a:pPr>
              <a:lnSpc>
                <a:spcPct val="90000"/>
              </a:lnSpc>
            </a:pPr>
            <a:r>
              <a:rPr lang="en-US" sz="3400"/>
              <a:t>Real vs Nominal Interest Rates</a:t>
            </a:r>
          </a:p>
        </p:txBody>
      </p:sp>
      <p:pic>
        <p:nvPicPr>
          <p:cNvPr id="5" name="Content Placeholder 4" descr="Chalk board">
            <a:extLst>
              <a:ext uri="{FF2B5EF4-FFF2-40B4-BE49-F238E27FC236}">
                <a16:creationId xmlns:a16="http://schemas.microsoft.com/office/drawing/2014/main" id="{3279E89A-36A3-4C52-9044-C9BB137F544F}"/>
              </a:ext>
            </a:extLst>
          </p:cNvPr>
          <p:cNvPicPr>
            <a:picLocks noGrp="1" noChangeAspect="1"/>
          </p:cNvPicPr>
          <p:nvPr>
            <p:ph sz="half" idx="1"/>
          </p:nvPr>
        </p:nvPicPr>
        <p:blipFill>
          <a:blip r:embed="rId3"/>
          <a:srcRect l="20132" r="19232" b="-1"/>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421E7BD7-681C-7782-5528-C8623C5C4CA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a:t>Nominal Interest Rates</a:t>
            </a:r>
          </a:p>
          <a:p>
            <a:pPr marL="0" lvl="1" indent="0">
              <a:buNone/>
            </a:pPr>
            <a:r>
              <a:rPr lang="en-US" sz="1400"/>
              <a:t>Nominal interest rates represent the stated rates without considering inflation, affecting the perception of investment returns.</a:t>
            </a:r>
          </a:p>
          <a:p>
            <a:pPr marL="0" indent="0">
              <a:spcBef>
                <a:spcPts val="2500"/>
              </a:spcBef>
              <a:buNone/>
            </a:pPr>
            <a:r>
              <a:rPr lang="en-US" sz="1400" b="1"/>
              <a:t>Real Interest Rates</a:t>
            </a:r>
          </a:p>
          <a:p>
            <a:pPr marL="0" lvl="1" indent="0">
              <a:buNone/>
            </a:pPr>
            <a:r>
              <a:rPr lang="en-US" sz="1400"/>
              <a:t>Real interest rates provide a more accurate measure of purchasing power by adjusting for inflation, essential for financial decisions.</a:t>
            </a:r>
          </a:p>
          <a:p>
            <a:pPr marL="0" indent="0">
              <a:spcBef>
                <a:spcPts val="2500"/>
              </a:spcBef>
              <a:buNone/>
            </a:pPr>
            <a:r>
              <a:rPr lang="en-US" sz="1400" b="1"/>
              <a:t>Importance of Differentiation</a:t>
            </a:r>
          </a:p>
          <a:p>
            <a:pPr marL="0" lvl="1" indent="0">
              <a:buNone/>
            </a:pPr>
            <a:r>
              <a:rPr lang="en-US" sz="1400"/>
              <a:t>Understanding the difference between nominal and real rates is crucial for evaluating the actual investment returns and financial outcomes.</a:t>
            </a:r>
          </a:p>
        </p:txBody>
      </p:sp>
    </p:spTree>
    <p:extLst>
      <p:ext uri="{BB962C8B-B14F-4D97-AF65-F5344CB8AC3E}">
        <p14:creationId xmlns:p14="http://schemas.microsoft.com/office/powerpoint/2010/main" val="14553611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F448D475-A454-B048-7704-B7230E33E348}"/>
              </a:ext>
            </a:extLst>
          </p:cNvPr>
          <p:cNvSpPr>
            <a:spLocks noGrp="1"/>
          </p:cNvSpPr>
          <p:nvPr>
            <p:ph type="title"/>
          </p:nvPr>
        </p:nvSpPr>
        <p:spPr>
          <a:xfrm>
            <a:off x="640079" y="1572768"/>
            <a:ext cx="8162176" cy="1406993"/>
          </a:xfrm>
        </p:spPr>
        <p:txBody>
          <a:bodyPr anchor="b">
            <a:normAutofit/>
          </a:bodyPr>
          <a:lstStyle/>
          <a:p>
            <a:r>
              <a:rPr lang="en-US" sz="6000"/>
              <a:t>Conclusion</a:t>
            </a:r>
          </a:p>
        </p:txBody>
      </p:sp>
      <p:graphicFrame>
        <p:nvGraphicFramePr>
          <p:cNvPr id="11" name="Content Placeholder 2">
            <a:extLst>
              <a:ext uri="{FF2B5EF4-FFF2-40B4-BE49-F238E27FC236}">
                <a16:creationId xmlns:a16="http://schemas.microsoft.com/office/drawing/2014/main" id="{9234A753-6746-253D-5BC5-C62EA2D0EB1C}"/>
              </a:ext>
            </a:extLst>
          </p:cNvPr>
          <p:cNvGraphicFramePr>
            <a:graphicFrameLocks noGrp="1"/>
          </p:cNvGraphicFramePr>
          <p:nvPr>
            <p:ph idx="1"/>
            <p:extLst>
              <p:ext uri="{D42A27DB-BD31-4B8C-83A1-F6EECF244321}">
                <p14:modId xmlns:p14="http://schemas.microsoft.com/office/powerpoint/2010/main" val="661713854"/>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F21FC8CC-145C-8745-889B-6521F9CCB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3256965"/>
            <a:ext cx="97886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876662"/>
      </p:ext>
    </p:extLst>
  </p:cSld>
  <p:clrMapOvr>
    <a:masterClrMapping/>
  </p:clrMapOvr>
  <p:transition>
    <p:fade/>
  </p:transition>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1402</Words>
  <Application>Microsoft Office PowerPoint</Application>
  <PresentationFormat>Widescreen</PresentationFormat>
  <Paragraphs>107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Avenir Next LT Pro</vt:lpstr>
      <vt:lpstr>Grandview Display</vt:lpstr>
      <vt:lpstr>DashVTI</vt:lpstr>
      <vt:lpstr>Understanding the Time Value of Money: Principles and Applications</vt:lpstr>
      <vt:lpstr>Agenda Highlights</vt:lpstr>
      <vt:lpstr>Fundamentals of Time Value of Money</vt:lpstr>
      <vt:lpstr>Definition and Importance</vt:lpstr>
      <vt:lpstr>Basic Concepts: Present Value and Future Value</vt:lpstr>
      <vt:lpstr>Underlying Assumptions</vt:lpstr>
      <vt:lpstr>Mathematical Principles and Formulas</vt:lpstr>
      <vt:lpstr>Present Value Formula</vt:lpstr>
      <vt:lpstr>Future Value Formula</vt:lpstr>
      <vt:lpstr>Annuities and Perpetuities Calculations</vt:lpstr>
      <vt:lpstr>Impact of Inflation and Interest Rates</vt:lpstr>
      <vt:lpstr>Effect of Inflation on Money Value</vt:lpstr>
      <vt:lpstr>Role of Interest Rates</vt:lpstr>
      <vt:lpstr>Real vs Nominal Interest Rates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Zoiner Tejada</dc:creator>
  <cp:lastModifiedBy>Zoiner Tejada</cp:lastModifiedBy>
  <cp:revision>1</cp:revision>
  <dcterms:created xsi:type="dcterms:W3CDTF">2025-06-05T18:45:34Z</dcterms:created>
  <dcterms:modified xsi:type="dcterms:W3CDTF">2025-06-05T18:45:56Z</dcterms:modified>
</cp:coreProperties>
</file>